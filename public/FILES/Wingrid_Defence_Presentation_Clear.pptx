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1"/>
  </p:notesMasterIdLst>
  <p:sldIdLst>
    <p:sldId id="258" r:id="rId3"/>
    <p:sldId id="259" r:id="rId4"/>
    <p:sldId id="260" r:id="rId5"/>
    <p:sldId id="261" r:id="rId6"/>
    <p:sldId id="262" r:id="rId7"/>
    <p:sldId id="263" r:id="rId8"/>
    <p:sldId id="264" r:id="rId9"/>
    <p:sldId id="257"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4660"/>
  </p:normalViewPr>
  <p:slideViewPr>
    <p:cSldViewPr snapToGrid="0">
      <p:cViewPr>
        <p:scale>
          <a:sx n="65" d="100"/>
          <a:sy n="65" d="100"/>
        </p:scale>
        <p:origin x="72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7CA5DE-5554-433E-998B-5706BBA3DDB9}" type="datetimeFigureOut">
              <a:rPr lang="en-US" smtClean="0"/>
              <a:t>10/7/2026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B57E44-CA01-48B4-9714-7B5CDB51CDA6}" type="slidenum">
              <a:rPr lang="en-US" smtClean="0"/>
              <a:t>‹#›</a:t>
            </a:fld>
            <a:endParaRPr lang="en-US"/>
          </a:p>
        </p:txBody>
      </p:sp>
    </p:spTree>
    <p:extLst>
      <p:ext uri="{BB962C8B-B14F-4D97-AF65-F5344CB8AC3E}">
        <p14:creationId xmlns:p14="http://schemas.microsoft.com/office/powerpoint/2010/main" val="17077380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66F616-72DA-4E4B-BAA1-BBB42A78663A}" type="slidenum">
              <a:rPr lang="en-US" smtClean="0"/>
              <a:t>1</a:t>
            </a:fld>
            <a:endParaRPr lang="en-US"/>
          </a:p>
        </p:txBody>
      </p:sp>
    </p:spTree>
    <p:extLst>
      <p:ext uri="{BB962C8B-B14F-4D97-AF65-F5344CB8AC3E}">
        <p14:creationId xmlns:p14="http://schemas.microsoft.com/office/powerpoint/2010/main" val="12490029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mn-lt"/>
                <a:ea typeface="+mn-ea"/>
                <a:cs typeface="+mn-cs"/>
              </a:rPr>
              <a:t>Introduction</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 the late 1990s, different theories in the mobility literature emerged  (Castles &amp; Miller, 1998) to explain the growing trend of international mobility as well as the reasons and processes that drive human mobility (de Haas, 2010; Sheller &amp; Urry, 2016). </a:t>
            </a:r>
          </a:p>
          <a:p>
            <a:r>
              <a:rPr lang="en-US" sz="1200" kern="1200" dirty="0">
                <a:solidFill>
                  <a:schemeClr val="tx1"/>
                </a:solidFill>
                <a:effectLst/>
                <a:latin typeface="+mn-lt"/>
                <a:ea typeface="+mn-ea"/>
                <a:cs typeface="+mn-cs"/>
              </a:rPr>
              <a:t>In recent years, however, studies of immobile populations have garnered academic attention, considering the fact that approximately 281 million international migrants, 3.6% of the world’s population, is on the move globally (IOM, 2024). This means about 96.4% of the world’s population is immobile.</a:t>
            </a:r>
          </a:p>
          <a:p>
            <a:r>
              <a:rPr lang="en-US" sz="1200" kern="1200" dirty="0">
                <a:solidFill>
                  <a:schemeClr val="tx1"/>
                </a:solidFill>
                <a:effectLst/>
                <a:latin typeface="+mn-lt"/>
                <a:ea typeface="+mn-ea"/>
                <a:cs typeface="+mn-cs"/>
              </a:rPr>
              <a:t> Drawing on the current figures of immobile population, </a:t>
            </a:r>
            <a:r>
              <a:rPr lang="en-US" sz="1200" kern="1200" dirty="0" err="1">
                <a:solidFill>
                  <a:schemeClr val="tx1"/>
                </a:solidFill>
                <a:effectLst/>
                <a:latin typeface="+mn-lt"/>
                <a:ea typeface="+mn-ea"/>
                <a:cs typeface="+mn-cs"/>
              </a:rPr>
              <a:t>Schewel</a:t>
            </a:r>
            <a:r>
              <a:rPr lang="en-US" sz="1200" kern="1200" dirty="0">
                <a:solidFill>
                  <a:schemeClr val="tx1"/>
                </a:solidFill>
                <a:effectLst/>
                <a:latin typeface="+mn-lt"/>
                <a:ea typeface="+mn-ea"/>
                <a:cs typeface="+mn-cs"/>
              </a:rPr>
              <a:t> (2019) argues that there is a ‘mobility </a:t>
            </a:r>
            <a:r>
              <a:rPr lang="en-US" sz="1200" kern="1200" dirty="0" err="1">
                <a:solidFill>
                  <a:schemeClr val="tx1"/>
                </a:solidFill>
                <a:effectLst/>
                <a:latin typeface="+mn-lt"/>
                <a:ea typeface="+mn-ea"/>
                <a:cs typeface="+mn-cs"/>
              </a:rPr>
              <a:t>bias’</a:t>
            </a:r>
            <a:r>
              <a:rPr lang="en-US" sz="1200" kern="1200" dirty="0">
                <a:solidFill>
                  <a:schemeClr val="tx1"/>
                </a:solidFill>
                <a:effectLst/>
                <a:latin typeface="+mn-lt"/>
                <a:ea typeface="+mn-ea"/>
                <a:cs typeface="+mn-cs"/>
              </a:rPr>
              <a:t> which is an overemphasis on theoretical and empirical research on the causes and consequences of mobility and migration. </a:t>
            </a:r>
          </a:p>
          <a:p>
            <a:r>
              <a:rPr lang="en-US" sz="1200" kern="1200" dirty="0">
                <a:solidFill>
                  <a:schemeClr val="tx1"/>
                </a:solidFill>
                <a:effectLst/>
                <a:latin typeface="+mn-lt"/>
                <a:ea typeface="+mn-ea"/>
                <a:cs typeface="+mn-cs"/>
              </a:rPr>
              <a:t>Given the recognition that the majority of the global population remains immobile, a number of scholars such as Carling (2002), Carling and </a:t>
            </a:r>
            <a:r>
              <a:rPr lang="en-US" sz="1200" kern="1200" dirty="0" err="1">
                <a:solidFill>
                  <a:schemeClr val="tx1"/>
                </a:solidFill>
                <a:effectLst/>
                <a:latin typeface="+mn-lt"/>
                <a:ea typeface="+mn-ea"/>
                <a:cs typeface="+mn-cs"/>
              </a:rPr>
              <a:t>Schewel</a:t>
            </a:r>
            <a:r>
              <a:rPr lang="en-US" sz="1200" kern="1200" dirty="0">
                <a:solidFill>
                  <a:schemeClr val="tx1"/>
                </a:solidFill>
                <a:effectLst/>
                <a:latin typeface="+mn-lt"/>
                <a:ea typeface="+mn-ea"/>
                <a:cs typeface="+mn-cs"/>
              </a:rPr>
              <a:t> (2018), </a:t>
            </a:r>
            <a:r>
              <a:rPr lang="en-US" sz="1200" kern="1200" dirty="0" err="1">
                <a:solidFill>
                  <a:schemeClr val="tx1"/>
                </a:solidFill>
                <a:effectLst/>
                <a:latin typeface="+mn-lt"/>
                <a:ea typeface="+mn-ea"/>
                <a:cs typeface="+mn-cs"/>
              </a:rPr>
              <a:t>Schewel</a:t>
            </a:r>
            <a:r>
              <a:rPr lang="en-US" sz="1200" kern="1200" dirty="0">
                <a:solidFill>
                  <a:schemeClr val="tx1"/>
                </a:solidFill>
                <a:effectLst/>
                <a:latin typeface="+mn-lt"/>
                <a:ea typeface="+mn-ea"/>
                <a:cs typeface="+mn-cs"/>
              </a:rPr>
              <a:t> (2019), Salazar (2021), and Stock (2019) have turned their attention to this group of people seeking to better understand the phenomenon and its consequences. </a:t>
            </a:r>
          </a:p>
          <a:p>
            <a:r>
              <a:rPr lang="en-US"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5"/>
          </p:nvPr>
        </p:nvSpPr>
        <p:spPr/>
        <p:txBody>
          <a:bodyPr/>
          <a:lstStyle/>
          <a:p>
            <a:fld id="{F966F616-72DA-4E4B-BAA1-BBB42A78663A}" type="slidenum">
              <a:rPr lang="en-US" smtClean="0"/>
              <a:t>3</a:t>
            </a:fld>
            <a:endParaRPr lang="en-US"/>
          </a:p>
        </p:txBody>
      </p:sp>
    </p:spTree>
    <p:extLst>
      <p:ext uri="{BB962C8B-B14F-4D97-AF65-F5344CB8AC3E}">
        <p14:creationId xmlns:p14="http://schemas.microsoft.com/office/powerpoint/2010/main" val="40751426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Problem Statement</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1.  Carling (2002) puts immobility into three distinct categories: voluntary mobility, involuntary immobility and voluntary immobility.  </a:t>
            </a:r>
            <a:r>
              <a:rPr lang="en-US" sz="1200" kern="1200" dirty="0" err="1">
                <a:solidFill>
                  <a:schemeClr val="tx1"/>
                </a:solidFill>
                <a:effectLst/>
                <a:latin typeface="+mn-lt"/>
                <a:ea typeface="+mn-ea"/>
                <a:cs typeface="+mn-cs"/>
              </a:rPr>
              <a:t>Schewel</a:t>
            </a:r>
            <a:r>
              <a:rPr lang="en-US" sz="1200" kern="1200" dirty="0">
                <a:solidFill>
                  <a:schemeClr val="tx1"/>
                </a:solidFill>
                <a:effectLst/>
                <a:latin typeface="+mn-lt"/>
                <a:ea typeface="+mn-ea"/>
                <a:cs typeface="+mn-cs"/>
              </a:rPr>
              <a:t> (2015) further advanced Carling’s three categories of immobility by introducing acquiescent immobility. Even though Carling (2002) and </a:t>
            </a:r>
            <a:r>
              <a:rPr lang="en-US" sz="1200" kern="1200" dirty="0" err="1">
                <a:solidFill>
                  <a:schemeClr val="tx1"/>
                </a:solidFill>
                <a:effectLst/>
                <a:latin typeface="+mn-lt"/>
                <a:ea typeface="+mn-ea"/>
                <a:cs typeface="+mn-cs"/>
              </a:rPr>
              <a:t>Schewel</a:t>
            </a:r>
            <a:r>
              <a:rPr lang="en-US" sz="1200" kern="1200" dirty="0">
                <a:solidFill>
                  <a:schemeClr val="tx1"/>
                </a:solidFill>
                <a:effectLst/>
                <a:latin typeface="+mn-lt"/>
                <a:ea typeface="+mn-ea"/>
                <a:cs typeface="+mn-cs"/>
              </a:rPr>
              <a:t> (2015) identified the categories of immobility, they did not </a:t>
            </a:r>
            <a:r>
              <a:rPr lang="en-US" sz="1200" kern="1200" dirty="0" err="1">
                <a:solidFill>
                  <a:schemeClr val="tx1"/>
                </a:solidFill>
                <a:effectLst/>
                <a:latin typeface="+mn-lt"/>
                <a:ea typeface="+mn-ea"/>
                <a:cs typeface="+mn-cs"/>
              </a:rPr>
              <a:t>conceptualise</a:t>
            </a:r>
            <a:r>
              <a:rPr lang="en-US" sz="1200" kern="1200" dirty="0">
                <a:solidFill>
                  <a:schemeClr val="tx1"/>
                </a:solidFill>
                <a:effectLst/>
                <a:latin typeface="+mn-lt"/>
                <a:ea typeface="+mn-ea"/>
                <a:cs typeface="+mn-cs"/>
              </a:rPr>
              <a:t> the possibility of transitioning through them.</a:t>
            </a:r>
          </a:p>
          <a:p>
            <a:r>
              <a:rPr lang="en-US" sz="1200" kern="1200" dirty="0">
                <a:solidFill>
                  <a:schemeClr val="tx1"/>
                </a:solidFill>
                <a:effectLst/>
                <a:latin typeface="+mn-lt"/>
                <a:ea typeface="+mn-ea"/>
                <a:cs typeface="+mn-cs"/>
              </a:rPr>
              <a:t>2.  A second extension of the literature on immobility focused on transitions. For instance, the works of Roderiguez-Pena (2023), </a:t>
            </a:r>
            <a:r>
              <a:rPr lang="en-US" sz="1200" kern="1200" dirty="0" err="1">
                <a:solidFill>
                  <a:schemeClr val="tx1"/>
                </a:solidFill>
                <a:effectLst/>
                <a:latin typeface="+mn-lt"/>
                <a:ea typeface="+mn-ea"/>
                <a:cs typeface="+mn-cs"/>
              </a:rPr>
              <a:t>Setrana</a:t>
            </a:r>
            <a:r>
              <a:rPr lang="en-US" sz="1200" kern="1200" dirty="0">
                <a:solidFill>
                  <a:schemeClr val="tx1"/>
                </a:solidFill>
                <a:effectLst/>
                <a:latin typeface="+mn-lt"/>
                <a:ea typeface="+mn-ea"/>
                <a:cs typeface="+mn-cs"/>
              </a:rPr>
              <a:t> (2021) demonstrate that it is possible to transition through the four immobility categories identified by Carling and </a:t>
            </a:r>
            <a:r>
              <a:rPr lang="en-US" sz="1200" kern="1200" dirty="0" err="1">
                <a:solidFill>
                  <a:schemeClr val="tx1"/>
                </a:solidFill>
                <a:effectLst/>
                <a:latin typeface="+mn-lt"/>
                <a:ea typeface="+mn-ea"/>
                <a:cs typeface="+mn-cs"/>
              </a:rPr>
              <a:t>Schewel</a:t>
            </a:r>
            <a:r>
              <a:rPr lang="en-US" sz="1200" kern="1200" dirty="0">
                <a:solidFill>
                  <a:schemeClr val="tx1"/>
                </a:solidFill>
                <a:effectLst/>
                <a:latin typeface="+mn-lt"/>
                <a:ea typeface="+mn-ea"/>
                <a:cs typeface="+mn-cs"/>
              </a:rPr>
              <a:t>, but focused only on involuntary immobility and voluntary immobility. </a:t>
            </a:r>
          </a:p>
          <a:p>
            <a:r>
              <a:rPr lang="en-US" sz="1200" kern="1200" dirty="0">
                <a:solidFill>
                  <a:schemeClr val="tx1"/>
                </a:solidFill>
                <a:effectLst/>
                <a:latin typeface="+mn-lt"/>
                <a:ea typeface="+mn-ea"/>
                <a:cs typeface="+mn-cs"/>
              </a:rPr>
              <a:t>3.  Salazar (2021) is also of the view that immobility should be seen as both an analytical concept and lived experience. </a:t>
            </a:r>
          </a:p>
          <a:p>
            <a:endParaRPr lang="en-US" dirty="0"/>
          </a:p>
        </p:txBody>
      </p:sp>
      <p:sp>
        <p:nvSpPr>
          <p:cNvPr id="4" name="Slide Number Placeholder 3"/>
          <p:cNvSpPr>
            <a:spLocks noGrp="1"/>
          </p:cNvSpPr>
          <p:nvPr>
            <p:ph type="sldNum" sz="quarter" idx="5"/>
          </p:nvPr>
        </p:nvSpPr>
        <p:spPr/>
        <p:txBody>
          <a:bodyPr/>
          <a:lstStyle/>
          <a:p>
            <a:fld id="{F966F616-72DA-4E4B-BAA1-BBB42A78663A}" type="slidenum">
              <a:rPr lang="en-US" smtClean="0"/>
              <a:t>4</a:t>
            </a:fld>
            <a:endParaRPr lang="en-US"/>
          </a:p>
        </p:txBody>
      </p:sp>
    </p:spTree>
    <p:extLst>
      <p:ext uri="{BB962C8B-B14F-4D97-AF65-F5344CB8AC3E}">
        <p14:creationId xmlns:p14="http://schemas.microsoft.com/office/powerpoint/2010/main" val="2044390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While there is the recognition that transitioning between mobility and immobility is possible, transitioning between the various categories of immobility has not been explored.</a:t>
            </a:r>
          </a:p>
          <a:p>
            <a:r>
              <a:rPr lang="en-US" sz="1200" kern="1200" dirty="0">
                <a:solidFill>
                  <a:schemeClr val="tx1"/>
                </a:solidFill>
                <a:effectLst/>
                <a:latin typeface="+mn-lt"/>
                <a:ea typeface="+mn-ea"/>
                <a:cs typeface="+mn-cs"/>
              </a:rPr>
              <a:t>This thesis intends to take the concept of transitioning further in two ways.  First, it explores transitioning between voluntary mobility and involuntary immobility. Second, it seeks to examine the process of transitioning through the various categories of immobility identified by Carling (2002) and </a:t>
            </a:r>
            <a:r>
              <a:rPr lang="en-US" sz="1200" kern="1200" dirty="0" err="1">
                <a:solidFill>
                  <a:schemeClr val="tx1"/>
                </a:solidFill>
                <a:effectLst/>
                <a:latin typeface="+mn-lt"/>
                <a:ea typeface="+mn-ea"/>
                <a:cs typeface="+mn-cs"/>
              </a:rPr>
              <a:t>Schewel</a:t>
            </a:r>
            <a:r>
              <a:rPr lang="en-US" sz="1200" kern="1200" dirty="0">
                <a:solidFill>
                  <a:schemeClr val="tx1"/>
                </a:solidFill>
                <a:effectLst/>
                <a:latin typeface="+mn-lt"/>
                <a:ea typeface="+mn-ea"/>
                <a:cs typeface="+mn-cs"/>
              </a:rPr>
              <a:t> (2015). </a:t>
            </a:r>
          </a:p>
          <a:p>
            <a:endParaRPr lang="en-US" dirty="0"/>
          </a:p>
        </p:txBody>
      </p:sp>
      <p:sp>
        <p:nvSpPr>
          <p:cNvPr id="4" name="Slide Number Placeholder 3"/>
          <p:cNvSpPr>
            <a:spLocks noGrp="1"/>
          </p:cNvSpPr>
          <p:nvPr>
            <p:ph type="sldNum" sz="quarter" idx="5"/>
          </p:nvPr>
        </p:nvSpPr>
        <p:spPr/>
        <p:txBody>
          <a:bodyPr/>
          <a:lstStyle/>
          <a:p>
            <a:fld id="{F966F616-72DA-4E4B-BAA1-BBB42A78663A}" type="slidenum">
              <a:rPr lang="en-US" smtClean="0"/>
              <a:t>5</a:t>
            </a:fld>
            <a:endParaRPr lang="en-US"/>
          </a:p>
        </p:txBody>
      </p:sp>
    </p:spTree>
    <p:extLst>
      <p:ext uri="{BB962C8B-B14F-4D97-AF65-F5344CB8AC3E}">
        <p14:creationId xmlns:p14="http://schemas.microsoft.com/office/powerpoint/2010/main" val="8352318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00" dirty="0">
                <a:effectLst/>
                <a:latin typeface="Times New Roman" panose="02020603050405020304" pitchFamily="18" charset="0"/>
                <a:ea typeface="Aptos" panose="020B0004020202020204" pitchFamily="34" charset="0"/>
                <a:cs typeface="Times New Roman" panose="02020603050405020304" pitchFamily="18" charset="0"/>
              </a:rPr>
              <a:t>The main objective of </a:t>
            </a:r>
            <a:r>
              <a:rPr lang="en-GB" dirty="0">
                <a:latin typeface="Times New Roman" panose="02020603050405020304" pitchFamily="18" charset="0"/>
                <a:cs typeface="Times New Roman" panose="02020603050405020304" pitchFamily="18" charset="0"/>
              </a:rPr>
              <a:t>this study is to explore the mobility and immobility experiences of convicted drug mules in Ghana.</a:t>
            </a:r>
            <a:endParaRPr lang="en-US"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In tandem with this, the specific objectives of the study are:</a:t>
            </a:r>
            <a:endParaRPr lang="en-US" sz="1200" kern="1200" dirty="0">
              <a:solidFill>
                <a:schemeClr val="tx1"/>
              </a:solidFill>
              <a:effectLst/>
              <a:latin typeface="+mn-lt"/>
              <a:ea typeface="+mn-ea"/>
              <a:cs typeface="+mn-cs"/>
            </a:endParaRPr>
          </a:p>
          <a:p>
            <a:r>
              <a:rPr lang="en-US" dirty="0"/>
              <a:t> </a:t>
            </a:r>
          </a:p>
        </p:txBody>
      </p:sp>
      <p:sp>
        <p:nvSpPr>
          <p:cNvPr id="4" name="Slide Number Placeholder 3"/>
          <p:cNvSpPr>
            <a:spLocks noGrp="1"/>
          </p:cNvSpPr>
          <p:nvPr>
            <p:ph type="sldNum" sz="quarter" idx="5"/>
          </p:nvPr>
        </p:nvSpPr>
        <p:spPr/>
        <p:txBody>
          <a:bodyPr/>
          <a:lstStyle/>
          <a:p>
            <a:fld id="{F966F616-72DA-4E4B-BAA1-BBB42A78663A}" type="slidenum">
              <a:rPr lang="en-US" smtClean="0"/>
              <a:t>6</a:t>
            </a:fld>
            <a:endParaRPr lang="en-US"/>
          </a:p>
        </p:txBody>
      </p:sp>
    </p:spTree>
    <p:extLst>
      <p:ext uri="{BB962C8B-B14F-4D97-AF65-F5344CB8AC3E}">
        <p14:creationId xmlns:p14="http://schemas.microsoft.com/office/powerpoint/2010/main" val="40576163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Methodology </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Phenomenology</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My philosophical positioning aligned with hermeneutic phenomenology since I </a:t>
            </a:r>
            <a:r>
              <a:rPr lang="en-US" sz="1200" kern="1200" dirty="0" err="1">
                <a:solidFill>
                  <a:schemeClr val="tx1"/>
                </a:solidFill>
                <a:effectLst/>
                <a:latin typeface="+mn-lt"/>
                <a:ea typeface="+mn-ea"/>
                <a:cs typeface="+mn-cs"/>
              </a:rPr>
              <a:t>saught</a:t>
            </a:r>
            <a:r>
              <a:rPr lang="en-US" sz="1200" kern="1200" dirty="0">
                <a:solidFill>
                  <a:schemeClr val="tx1"/>
                </a:solidFill>
                <a:effectLst/>
                <a:latin typeface="+mn-lt"/>
                <a:ea typeface="+mn-ea"/>
                <a:cs typeface="+mn-cs"/>
              </a:rPr>
              <a:t> to understand how individuals make meaning of their voluntary and involuntary immobility. </a:t>
            </a:r>
          </a:p>
          <a:p>
            <a:r>
              <a:rPr lang="en-US" sz="1200" b="1" kern="1200" dirty="0">
                <a:solidFill>
                  <a:schemeClr val="tx1"/>
                </a:solidFill>
                <a:effectLst/>
                <a:latin typeface="+mn-lt"/>
                <a:ea typeface="+mn-ea"/>
                <a:cs typeface="+mn-cs"/>
              </a:rPr>
              <a:t>Qualitative approach</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Given the sensitive and complex nature of drug trafficking and incarceration, the qualitative research design was deemed most appropriate to understand the complex realities of convicted drug mules, an insight that will be overlooked in a purely quantitative approach</a:t>
            </a:r>
          </a:p>
          <a:p>
            <a:r>
              <a:rPr lang="en-US" sz="1200" kern="1200" dirty="0">
                <a:solidFill>
                  <a:schemeClr val="tx1"/>
                </a:solidFill>
                <a:effectLst/>
                <a:latin typeface="+mn-lt"/>
                <a:ea typeface="+mn-ea"/>
                <a:cs typeface="+mn-cs"/>
              </a:rPr>
              <a:t>The methodological orientation that best suits the purpose of my research is the Interpretative Phenomenological Analysis (IPA). IPA is a qualitative research approach developed by Smith (2011) within psychology to explore how individuals make sense of their lived experiences (Moran, 2013). </a:t>
            </a:r>
          </a:p>
          <a:p>
            <a:r>
              <a:rPr lang="en-US" sz="1200" b="1" kern="1200" dirty="0">
                <a:solidFill>
                  <a:schemeClr val="tx1"/>
                </a:solidFill>
                <a:effectLst/>
                <a:latin typeface="+mn-lt"/>
                <a:ea typeface="+mn-ea"/>
                <a:cs typeface="+mn-cs"/>
              </a:rPr>
              <a:t>Study population</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Convicted drug mules (males and females)</a:t>
            </a:r>
          </a:p>
          <a:p>
            <a:r>
              <a:rPr lang="en-US" sz="1200" kern="1200" dirty="0">
                <a:solidFill>
                  <a:schemeClr val="tx1"/>
                </a:solidFill>
                <a:effectLst/>
                <a:latin typeface="+mn-lt"/>
                <a:ea typeface="+mn-ea"/>
                <a:cs typeface="+mn-cs"/>
              </a:rPr>
              <a:t>Ghanaians and foreign nationals</a:t>
            </a:r>
          </a:p>
          <a:p>
            <a:r>
              <a:rPr lang="en-US" sz="1200" kern="1200" dirty="0">
                <a:solidFill>
                  <a:schemeClr val="tx1"/>
                </a:solidFill>
                <a:effectLst/>
                <a:latin typeface="+mn-lt"/>
                <a:ea typeface="+mn-ea"/>
                <a:cs typeface="+mn-cs"/>
              </a:rPr>
              <a:t>18 years and above</a:t>
            </a:r>
          </a:p>
          <a:p>
            <a:r>
              <a:rPr lang="en-US" sz="1200" kern="1200" dirty="0">
                <a:solidFill>
                  <a:schemeClr val="tx1"/>
                </a:solidFill>
                <a:effectLst/>
                <a:latin typeface="+mn-lt"/>
                <a:ea typeface="+mn-ea"/>
                <a:cs typeface="+mn-cs"/>
              </a:rPr>
              <a:t>Must be in prison beyond 6 months</a:t>
            </a:r>
          </a:p>
          <a:p>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Sampling Techniques</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Census at the female yard</a:t>
            </a:r>
          </a:p>
          <a:p>
            <a:r>
              <a:rPr lang="en-US" sz="1200" kern="1200" dirty="0">
                <a:solidFill>
                  <a:schemeClr val="tx1"/>
                </a:solidFill>
                <a:effectLst/>
                <a:latin typeface="+mn-lt"/>
                <a:ea typeface="+mn-ea"/>
                <a:cs typeface="+mn-cs"/>
              </a:rPr>
              <a:t>Snowballing at the male yard</a:t>
            </a:r>
          </a:p>
          <a:p>
            <a:r>
              <a:rPr lang="en-US" sz="1200" kern="1200" dirty="0">
                <a:solidFill>
                  <a:schemeClr val="tx1"/>
                </a:solidFill>
                <a:effectLst/>
                <a:latin typeface="+mn-lt"/>
                <a:ea typeface="+mn-ea"/>
                <a:cs typeface="+mn-cs"/>
              </a:rPr>
              <a:t>Purposive for key informants</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Sampling size</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sampling size obtained after reaching saturation was 16, </a:t>
            </a:r>
            <a:r>
              <a:rPr lang="en-US" sz="1200" kern="1200" dirty="0" err="1">
                <a:solidFill>
                  <a:schemeClr val="tx1"/>
                </a:solidFill>
                <a:effectLst/>
                <a:latin typeface="+mn-lt"/>
                <a:ea typeface="+mn-ea"/>
                <a:cs typeface="+mn-cs"/>
              </a:rPr>
              <a:t>ie</a:t>
            </a:r>
            <a:r>
              <a:rPr lang="en-US" sz="1200" kern="1200" dirty="0">
                <a:solidFill>
                  <a:schemeClr val="tx1"/>
                </a:solidFill>
                <a:effectLst/>
                <a:latin typeface="+mn-lt"/>
                <a:ea typeface="+mn-ea"/>
                <a:cs typeface="+mn-cs"/>
              </a:rPr>
              <a:t>, 8 males and eight females</a:t>
            </a:r>
          </a:p>
          <a:p>
            <a:r>
              <a:rPr lang="en-US" sz="1200" b="1" kern="1200" dirty="0">
                <a:solidFill>
                  <a:schemeClr val="tx1"/>
                </a:solidFill>
                <a:effectLst/>
                <a:latin typeface="+mn-lt"/>
                <a:ea typeface="+mn-ea"/>
                <a:cs typeface="+mn-cs"/>
              </a:rPr>
              <a:t>Data analysis</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Transcription was done while conducting the interviews because the prison did not allow me to record</a:t>
            </a:r>
          </a:p>
          <a:p>
            <a:r>
              <a:rPr lang="en-US" sz="1200" kern="1200" dirty="0">
                <a:solidFill>
                  <a:schemeClr val="tx1"/>
                </a:solidFill>
                <a:effectLst/>
                <a:latin typeface="+mn-lt"/>
                <a:ea typeface="+mn-ea"/>
                <a:cs typeface="+mn-cs"/>
              </a:rPr>
              <a:t>After the first four interviews, I began generating initial codes and gained a preliminary understanding of the potential themes emerging from the data. I viewed these interviews as setting the conceptual boundaries of the phenomenon under investigation. </a:t>
            </a:r>
          </a:p>
          <a:p>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Coding</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First order codes 			Second order codes		Voice/quotes </a:t>
            </a:r>
          </a:p>
          <a:p>
            <a:r>
              <a:rPr lang="en-US" sz="1200" kern="1200" dirty="0">
                <a:solidFill>
                  <a:schemeClr val="tx1"/>
                </a:solidFill>
                <a:effectLst/>
                <a:latin typeface="+mn-lt"/>
                <a:ea typeface="+mn-ea"/>
                <a:cs typeface="+mn-cs"/>
              </a:rPr>
              <a:t>Learning to sew			Vocational skills 		what skill are you learning?</a:t>
            </a:r>
          </a:p>
          <a:p>
            <a:r>
              <a:rPr lang="en-US" sz="1200" kern="1200" dirty="0">
                <a:solidFill>
                  <a:schemeClr val="tx1"/>
                </a:solidFill>
                <a:effectLst/>
                <a:latin typeface="+mn-lt"/>
                <a:ea typeface="+mn-ea"/>
                <a:cs typeface="+mn-cs"/>
              </a:rPr>
              <a:t>Constant headache and feeling weak	 Experiences in prison </a:t>
            </a:r>
          </a:p>
          <a:p>
            <a:r>
              <a:rPr lang="en-US" sz="1200" kern="1200" dirty="0">
                <a:solidFill>
                  <a:schemeClr val="tx1"/>
                </a:solidFill>
                <a:effectLst/>
                <a:latin typeface="+mn-lt"/>
                <a:ea typeface="+mn-ea"/>
                <a:cs typeface="+mn-cs"/>
              </a:rPr>
              <a:t>Thinking too much</a:t>
            </a:r>
          </a:p>
          <a:p>
            <a:r>
              <a:rPr lang="en-US" sz="1200" kern="1200" dirty="0">
                <a:solidFill>
                  <a:schemeClr val="tx1"/>
                </a:solidFill>
                <a:effectLst/>
                <a:latin typeface="+mn-lt"/>
                <a:ea typeface="+mn-ea"/>
                <a:cs typeface="+mn-cs"/>
              </a:rPr>
              <a:t>After generating the codes, I organised them into basic themes, subordinate themes and superordinate themes</a:t>
            </a:r>
          </a:p>
          <a:p>
            <a:r>
              <a:rPr lang="en-US" sz="1200" kern="1200" dirty="0" err="1">
                <a:solidFill>
                  <a:schemeClr val="tx1"/>
                </a:solidFill>
                <a:effectLst/>
                <a:latin typeface="+mn-lt"/>
                <a:ea typeface="+mn-ea"/>
                <a:cs typeface="+mn-cs"/>
              </a:rPr>
              <a:t>Eg.</a:t>
            </a:r>
            <a:r>
              <a:rPr lang="en-US" sz="1200" kern="1200" dirty="0">
                <a:solidFill>
                  <a:schemeClr val="tx1"/>
                </a:solidFill>
                <a:effectLst/>
                <a:latin typeface="+mn-lt"/>
                <a:ea typeface="+mn-ea"/>
                <a:cs typeface="+mn-cs"/>
              </a:rPr>
              <a:t> Working in my neighborhood (basic theme)	No movement within the country of origin (subordinate theme)	mobility trajectories of participants before engaging in drug trafficking (superordinate themes)</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Researcher positionality </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On one hand, I have firsthand knowledge of law enforcement and how drug trafficking cases are handled in Ghana. On the other hand, I am deeply engaged in academic inquiry as a student researcher</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 may be seen as an insider because, as a drug law enforcement officer, I have a deep understanding of the legal, procedural, and social contexts surrounding drug trafficking.</a:t>
            </a:r>
          </a:p>
          <a:p>
            <a:r>
              <a:rPr lang="en-US" sz="1200" kern="1200" dirty="0">
                <a:solidFill>
                  <a:schemeClr val="tx1"/>
                </a:solidFill>
                <a:effectLst/>
                <a:latin typeface="+mn-lt"/>
                <a:ea typeface="+mn-ea"/>
                <a:cs typeface="+mn-cs"/>
              </a:rPr>
              <a:t>I am an outsider because I have not lived the experience of being a convicted drug mule.</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 am aware that this dual positionality can enrich my analysis, but also requires reflexivity. I needed to be aware of how my identity, assumptions, and institutional affiliations might affect data collection, interpretation, and participant rapport.</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Although my background gave me valuable insight into how drugs are trafficked into Ghana and the control measures, I was also aware that sharing my professional identity with my participants, the convicted drug mules, might make them uncomfortable or hesitant to speak freely. To help create a safe and open environment for honest conversation, I chose to present myself only as a student researcher during the interviews. This decision was not taken lightly, but it followed ethical guidance in qualitative research that emphasises the importance of building trust and mitigating power imbalances between researcher and participant (Berger, 2016; Holmes, 2020).</a:t>
            </a:r>
          </a:p>
          <a:p>
            <a:endParaRPr lang="en-US" dirty="0"/>
          </a:p>
        </p:txBody>
      </p:sp>
      <p:sp>
        <p:nvSpPr>
          <p:cNvPr id="4" name="Slide Number Placeholder 3"/>
          <p:cNvSpPr>
            <a:spLocks noGrp="1"/>
          </p:cNvSpPr>
          <p:nvPr>
            <p:ph type="sldNum" sz="quarter" idx="5"/>
          </p:nvPr>
        </p:nvSpPr>
        <p:spPr/>
        <p:txBody>
          <a:bodyPr/>
          <a:lstStyle/>
          <a:p>
            <a:fld id="{F966F616-72DA-4E4B-BAA1-BBB42A78663A}" type="slidenum">
              <a:rPr lang="en-US" smtClean="0"/>
              <a:t>7</a:t>
            </a:fld>
            <a:endParaRPr lang="en-US"/>
          </a:p>
        </p:txBody>
      </p:sp>
    </p:spTree>
    <p:extLst>
      <p:ext uri="{BB962C8B-B14F-4D97-AF65-F5344CB8AC3E}">
        <p14:creationId xmlns:p14="http://schemas.microsoft.com/office/powerpoint/2010/main" val="20750725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66F616-72DA-4E4B-BAA1-BBB42A78663A}" type="slidenum">
              <a:rPr lang="en-US" smtClean="0"/>
              <a:t>8</a:t>
            </a:fld>
            <a:endParaRPr lang="en-US"/>
          </a:p>
        </p:txBody>
      </p:sp>
    </p:spTree>
    <p:extLst>
      <p:ext uri="{BB962C8B-B14F-4D97-AF65-F5344CB8AC3E}">
        <p14:creationId xmlns:p14="http://schemas.microsoft.com/office/powerpoint/2010/main" val="12490029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D7EC2-E5D8-F742-1B67-054FF0866F4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7A00BB6-1739-C6B5-9716-28AB89FF2D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92B4C73-ACB3-7C9F-7EA5-2938A0344044}"/>
              </a:ext>
            </a:extLst>
          </p:cNvPr>
          <p:cNvSpPr>
            <a:spLocks noGrp="1"/>
          </p:cNvSpPr>
          <p:nvPr>
            <p:ph type="dt" sz="half" idx="10"/>
          </p:nvPr>
        </p:nvSpPr>
        <p:spPr/>
        <p:txBody>
          <a:bodyPr/>
          <a:lstStyle/>
          <a:p>
            <a:fld id="{F10901DB-E840-4150-8207-866BDD25D22F}" type="datetimeFigureOut">
              <a:rPr lang="en-US" smtClean="0"/>
              <a:t>10/7/2026</a:t>
            </a:fld>
            <a:endParaRPr lang="en-US"/>
          </a:p>
        </p:txBody>
      </p:sp>
      <p:sp>
        <p:nvSpPr>
          <p:cNvPr id="5" name="Footer Placeholder 4">
            <a:extLst>
              <a:ext uri="{FF2B5EF4-FFF2-40B4-BE49-F238E27FC236}">
                <a16:creationId xmlns:a16="http://schemas.microsoft.com/office/drawing/2014/main" id="{5912DAEB-3F38-A327-9E2B-F5B42236E7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D2C4D2-F373-1FDD-0C14-B0A5EE67898B}"/>
              </a:ext>
            </a:extLst>
          </p:cNvPr>
          <p:cNvSpPr>
            <a:spLocks noGrp="1"/>
          </p:cNvSpPr>
          <p:nvPr>
            <p:ph type="sldNum" sz="quarter" idx="12"/>
          </p:nvPr>
        </p:nvSpPr>
        <p:spPr/>
        <p:txBody>
          <a:bodyPr/>
          <a:lstStyle/>
          <a:p>
            <a:fld id="{C41024BC-5968-4735-8D30-B72DEF6BE683}" type="slidenum">
              <a:rPr lang="en-US" smtClean="0"/>
              <a:t>‹#›</a:t>
            </a:fld>
            <a:endParaRPr lang="en-US"/>
          </a:p>
        </p:txBody>
      </p:sp>
    </p:spTree>
    <p:extLst>
      <p:ext uri="{BB962C8B-B14F-4D97-AF65-F5344CB8AC3E}">
        <p14:creationId xmlns:p14="http://schemas.microsoft.com/office/powerpoint/2010/main" val="3202589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58BDB-9BFB-33BD-36E2-CB774FA507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C0EBEC1-929D-A242-6F90-1148AB735D4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7C69D1-F584-0904-FC78-1845E1CE9CB1}"/>
              </a:ext>
            </a:extLst>
          </p:cNvPr>
          <p:cNvSpPr>
            <a:spLocks noGrp="1"/>
          </p:cNvSpPr>
          <p:nvPr>
            <p:ph type="dt" sz="half" idx="10"/>
          </p:nvPr>
        </p:nvSpPr>
        <p:spPr/>
        <p:txBody>
          <a:bodyPr/>
          <a:lstStyle/>
          <a:p>
            <a:fld id="{F10901DB-E840-4150-8207-866BDD25D22F}" type="datetimeFigureOut">
              <a:rPr lang="en-US" smtClean="0"/>
              <a:t>10/7/2026</a:t>
            </a:fld>
            <a:endParaRPr lang="en-US"/>
          </a:p>
        </p:txBody>
      </p:sp>
      <p:sp>
        <p:nvSpPr>
          <p:cNvPr id="5" name="Footer Placeholder 4">
            <a:extLst>
              <a:ext uri="{FF2B5EF4-FFF2-40B4-BE49-F238E27FC236}">
                <a16:creationId xmlns:a16="http://schemas.microsoft.com/office/drawing/2014/main" id="{C06E6342-5ECF-1C98-5658-39498D805F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2FAC61-7EF5-A0A9-7407-77FCBC604580}"/>
              </a:ext>
            </a:extLst>
          </p:cNvPr>
          <p:cNvSpPr>
            <a:spLocks noGrp="1"/>
          </p:cNvSpPr>
          <p:nvPr>
            <p:ph type="sldNum" sz="quarter" idx="12"/>
          </p:nvPr>
        </p:nvSpPr>
        <p:spPr/>
        <p:txBody>
          <a:bodyPr/>
          <a:lstStyle/>
          <a:p>
            <a:fld id="{C41024BC-5968-4735-8D30-B72DEF6BE683}" type="slidenum">
              <a:rPr lang="en-US" smtClean="0"/>
              <a:t>‹#›</a:t>
            </a:fld>
            <a:endParaRPr lang="en-US"/>
          </a:p>
        </p:txBody>
      </p:sp>
    </p:spTree>
    <p:extLst>
      <p:ext uri="{BB962C8B-B14F-4D97-AF65-F5344CB8AC3E}">
        <p14:creationId xmlns:p14="http://schemas.microsoft.com/office/powerpoint/2010/main" val="6530901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3C68F-4357-6C0B-EFF4-6056CFE0274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37434F9-9472-5E2E-37A2-1C668D4EE77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165E404-4C0A-77ED-B4F0-F150408E2701}"/>
              </a:ext>
            </a:extLst>
          </p:cNvPr>
          <p:cNvSpPr>
            <a:spLocks noGrp="1"/>
          </p:cNvSpPr>
          <p:nvPr>
            <p:ph type="dt" sz="half" idx="10"/>
          </p:nvPr>
        </p:nvSpPr>
        <p:spPr/>
        <p:txBody>
          <a:bodyPr/>
          <a:lstStyle/>
          <a:p>
            <a:fld id="{F10901DB-E840-4150-8207-866BDD25D22F}" type="datetimeFigureOut">
              <a:rPr lang="en-US" smtClean="0"/>
              <a:t>10/7/2026</a:t>
            </a:fld>
            <a:endParaRPr lang="en-US"/>
          </a:p>
        </p:txBody>
      </p:sp>
      <p:sp>
        <p:nvSpPr>
          <p:cNvPr id="5" name="Footer Placeholder 4">
            <a:extLst>
              <a:ext uri="{FF2B5EF4-FFF2-40B4-BE49-F238E27FC236}">
                <a16:creationId xmlns:a16="http://schemas.microsoft.com/office/drawing/2014/main" id="{CC47E8BC-3C9D-288D-A877-4B49F26D41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304336-DB89-C939-F991-F3B56B48D96C}"/>
              </a:ext>
            </a:extLst>
          </p:cNvPr>
          <p:cNvSpPr>
            <a:spLocks noGrp="1"/>
          </p:cNvSpPr>
          <p:nvPr>
            <p:ph type="sldNum" sz="quarter" idx="12"/>
          </p:nvPr>
        </p:nvSpPr>
        <p:spPr/>
        <p:txBody>
          <a:bodyPr/>
          <a:lstStyle/>
          <a:p>
            <a:fld id="{C41024BC-5968-4735-8D30-B72DEF6BE683}" type="slidenum">
              <a:rPr lang="en-US" smtClean="0"/>
              <a:t>‹#›</a:t>
            </a:fld>
            <a:endParaRPr lang="en-US"/>
          </a:p>
        </p:txBody>
      </p:sp>
    </p:spTree>
    <p:extLst>
      <p:ext uri="{BB962C8B-B14F-4D97-AF65-F5344CB8AC3E}">
        <p14:creationId xmlns:p14="http://schemas.microsoft.com/office/powerpoint/2010/main" val="9883839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DE173-84FE-131A-FDEC-10EB764DA2F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99AD527-C4A0-467A-A074-20997F2F9B7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AE8166C-5D25-2F7A-68E2-89811F37E2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FA11F9-6FE3-AE70-BB60-74D68595EF93}"/>
              </a:ext>
            </a:extLst>
          </p:cNvPr>
          <p:cNvSpPr>
            <a:spLocks noGrp="1"/>
          </p:cNvSpPr>
          <p:nvPr>
            <p:ph type="dt" sz="half" idx="10"/>
          </p:nvPr>
        </p:nvSpPr>
        <p:spPr/>
        <p:txBody>
          <a:bodyPr/>
          <a:lstStyle/>
          <a:p>
            <a:fld id="{F10901DB-E840-4150-8207-866BDD25D22F}" type="datetimeFigureOut">
              <a:rPr lang="en-US" smtClean="0"/>
              <a:t>10/7/2026</a:t>
            </a:fld>
            <a:endParaRPr lang="en-US"/>
          </a:p>
        </p:txBody>
      </p:sp>
      <p:sp>
        <p:nvSpPr>
          <p:cNvPr id="6" name="Footer Placeholder 5">
            <a:extLst>
              <a:ext uri="{FF2B5EF4-FFF2-40B4-BE49-F238E27FC236}">
                <a16:creationId xmlns:a16="http://schemas.microsoft.com/office/drawing/2014/main" id="{4BDC4B88-4529-9622-3DFF-0A9E8F047F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1149887-301D-192D-6E4E-0B5CD9F58651}"/>
              </a:ext>
            </a:extLst>
          </p:cNvPr>
          <p:cNvSpPr>
            <a:spLocks noGrp="1"/>
          </p:cNvSpPr>
          <p:nvPr>
            <p:ph type="sldNum" sz="quarter" idx="12"/>
          </p:nvPr>
        </p:nvSpPr>
        <p:spPr/>
        <p:txBody>
          <a:bodyPr/>
          <a:lstStyle/>
          <a:p>
            <a:fld id="{C41024BC-5968-4735-8D30-B72DEF6BE683}" type="slidenum">
              <a:rPr lang="en-US" smtClean="0"/>
              <a:t>‹#›</a:t>
            </a:fld>
            <a:endParaRPr lang="en-US"/>
          </a:p>
        </p:txBody>
      </p:sp>
    </p:spTree>
    <p:extLst>
      <p:ext uri="{BB962C8B-B14F-4D97-AF65-F5344CB8AC3E}">
        <p14:creationId xmlns:p14="http://schemas.microsoft.com/office/powerpoint/2010/main" val="36107422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8185E-3938-13F4-071F-9C47FBD6098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5328229-9E26-4A8D-CE13-5195A4F3BEB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04DE16-D620-E567-A074-2B6A54D885E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CA6B1B9-8555-7B1C-2D30-CA652A28189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0F61AE-EC15-64C2-A098-EC225FEFBF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92DFBB5-D787-915A-9095-24B00FA2AC94}"/>
              </a:ext>
            </a:extLst>
          </p:cNvPr>
          <p:cNvSpPr>
            <a:spLocks noGrp="1"/>
          </p:cNvSpPr>
          <p:nvPr>
            <p:ph type="dt" sz="half" idx="10"/>
          </p:nvPr>
        </p:nvSpPr>
        <p:spPr/>
        <p:txBody>
          <a:bodyPr/>
          <a:lstStyle/>
          <a:p>
            <a:fld id="{F10901DB-E840-4150-8207-866BDD25D22F}" type="datetimeFigureOut">
              <a:rPr lang="en-US" smtClean="0"/>
              <a:t>10/7/2026</a:t>
            </a:fld>
            <a:endParaRPr lang="en-US"/>
          </a:p>
        </p:txBody>
      </p:sp>
      <p:sp>
        <p:nvSpPr>
          <p:cNvPr id="8" name="Footer Placeholder 7">
            <a:extLst>
              <a:ext uri="{FF2B5EF4-FFF2-40B4-BE49-F238E27FC236}">
                <a16:creationId xmlns:a16="http://schemas.microsoft.com/office/drawing/2014/main" id="{F711DC54-8C33-C55A-F365-B3AC72A6BA0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5363D3E-D67B-702D-ADA5-2F2C9111BF9F}"/>
              </a:ext>
            </a:extLst>
          </p:cNvPr>
          <p:cNvSpPr>
            <a:spLocks noGrp="1"/>
          </p:cNvSpPr>
          <p:nvPr>
            <p:ph type="sldNum" sz="quarter" idx="12"/>
          </p:nvPr>
        </p:nvSpPr>
        <p:spPr/>
        <p:txBody>
          <a:bodyPr/>
          <a:lstStyle/>
          <a:p>
            <a:fld id="{C41024BC-5968-4735-8D30-B72DEF6BE683}" type="slidenum">
              <a:rPr lang="en-US" smtClean="0"/>
              <a:t>‹#›</a:t>
            </a:fld>
            <a:endParaRPr lang="en-US"/>
          </a:p>
        </p:txBody>
      </p:sp>
    </p:spTree>
    <p:extLst>
      <p:ext uri="{BB962C8B-B14F-4D97-AF65-F5344CB8AC3E}">
        <p14:creationId xmlns:p14="http://schemas.microsoft.com/office/powerpoint/2010/main" val="9616513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C649D-C7B1-FC2E-BE2E-20E16B49B25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86BDD17-2483-9991-3C02-F104B65F2F73}"/>
              </a:ext>
            </a:extLst>
          </p:cNvPr>
          <p:cNvSpPr>
            <a:spLocks noGrp="1"/>
          </p:cNvSpPr>
          <p:nvPr>
            <p:ph type="dt" sz="half" idx="10"/>
          </p:nvPr>
        </p:nvSpPr>
        <p:spPr/>
        <p:txBody>
          <a:bodyPr/>
          <a:lstStyle/>
          <a:p>
            <a:fld id="{F10901DB-E840-4150-8207-866BDD25D22F}" type="datetimeFigureOut">
              <a:rPr lang="en-US" smtClean="0"/>
              <a:t>10/7/2026</a:t>
            </a:fld>
            <a:endParaRPr lang="en-US"/>
          </a:p>
        </p:txBody>
      </p:sp>
      <p:sp>
        <p:nvSpPr>
          <p:cNvPr id="4" name="Footer Placeholder 3">
            <a:extLst>
              <a:ext uri="{FF2B5EF4-FFF2-40B4-BE49-F238E27FC236}">
                <a16:creationId xmlns:a16="http://schemas.microsoft.com/office/drawing/2014/main" id="{9D1C0FB9-E42D-9741-BA7C-C811901B70E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A55081D-BB5A-9B2F-8F12-4376917E0894}"/>
              </a:ext>
            </a:extLst>
          </p:cNvPr>
          <p:cNvSpPr>
            <a:spLocks noGrp="1"/>
          </p:cNvSpPr>
          <p:nvPr>
            <p:ph type="sldNum" sz="quarter" idx="12"/>
          </p:nvPr>
        </p:nvSpPr>
        <p:spPr/>
        <p:txBody>
          <a:bodyPr/>
          <a:lstStyle/>
          <a:p>
            <a:fld id="{C41024BC-5968-4735-8D30-B72DEF6BE683}" type="slidenum">
              <a:rPr lang="en-US" smtClean="0"/>
              <a:t>‹#›</a:t>
            </a:fld>
            <a:endParaRPr lang="en-US"/>
          </a:p>
        </p:txBody>
      </p:sp>
    </p:spTree>
    <p:extLst>
      <p:ext uri="{BB962C8B-B14F-4D97-AF65-F5344CB8AC3E}">
        <p14:creationId xmlns:p14="http://schemas.microsoft.com/office/powerpoint/2010/main" val="26494001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416FCAA-D61A-19AA-2CFD-EDCFFE232B38}"/>
              </a:ext>
            </a:extLst>
          </p:cNvPr>
          <p:cNvSpPr>
            <a:spLocks noGrp="1"/>
          </p:cNvSpPr>
          <p:nvPr>
            <p:ph type="dt" sz="half" idx="10"/>
          </p:nvPr>
        </p:nvSpPr>
        <p:spPr/>
        <p:txBody>
          <a:bodyPr/>
          <a:lstStyle/>
          <a:p>
            <a:fld id="{F10901DB-E840-4150-8207-866BDD25D22F}" type="datetimeFigureOut">
              <a:rPr lang="en-US" smtClean="0"/>
              <a:t>10/7/2026</a:t>
            </a:fld>
            <a:endParaRPr lang="en-US"/>
          </a:p>
        </p:txBody>
      </p:sp>
      <p:sp>
        <p:nvSpPr>
          <p:cNvPr id="3" name="Footer Placeholder 2">
            <a:extLst>
              <a:ext uri="{FF2B5EF4-FFF2-40B4-BE49-F238E27FC236}">
                <a16:creationId xmlns:a16="http://schemas.microsoft.com/office/drawing/2014/main" id="{CDD15071-F236-77A8-4671-2C96684897F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F83CB8E-1A45-9FF7-122B-46108F80B893}"/>
              </a:ext>
            </a:extLst>
          </p:cNvPr>
          <p:cNvSpPr>
            <a:spLocks noGrp="1"/>
          </p:cNvSpPr>
          <p:nvPr>
            <p:ph type="sldNum" sz="quarter" idx="12"/>
          </p:nvPr>
        </p:nvSpPr>
        <p:spPr/>
        <p:txBody>
          <a:bodyPr/>
          <a:lstStyle/>
          <a:p>
            <a:fld id="{C41024BC-5968-4735-8D30-B72DEF6BE683}" type="slidenum">
              <a:rPr lang="en-US" smtClean="0"/>
              <a:t>‹#›</a:t>
            </a:fld>
            <a:endParaRPr lang="en-US"/>
          </a:p>
        </p:txBody>
      </p:sp>
    </p:spTree>
    <p:extLst>
      <p:ext uri="{BB962C8B-B14F-4D97-AF65-F5344CB8AC3E}">
        <p14:creationId xmlns:p14="http://schemas.microsoft.com/office/powerpoint/2010/main" val="9715597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57F21-6BEA-4D7A-A020-D2D73BA2D3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3F6C2EB-2067-EDE8-6730-13C68662637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9A68C07-B368-9A92-7D94-899AA230A9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1C4715-8548-B8CD-E46B-32F52F97AC6B}"/>
              </a:ext>
            </a:extLst>
          </p:cNvPr>
          <p:cNvSpPr>
            <a:spLocks noGrp="1"/>
          </p:cNvSpPr>
          <p:nvPr>
            <p:ph type="dt" sz="half" idx="10"/>
          </p:nvPr>
        </p:nvSpPr>
        <p:spPr/>
        <p:txBody>
          <a:bodyPr/>
          <a:lstStyle/>
          <a:p>
            <a:fld id="{F10901DB-E840-4150-8207-866BDD25D22F}" type="datetimeFigureOut">
              <a:rPr lang="en-US" smtClean="0"/>
              <a:t>10/7/2026</a:t>
            </a:fld>
            <a:endParaRPr lang="en-US"/>
          </a:p>
        </p:txBody>
      </p:sp>
      <p:sp>
        <p:nvSpPr>
          <p:cNvPr id="6" name="Footer Placeholder 5">
            <a:extLst>
              <a:ext uri="{FF2B5EF4-FFF2-40B4-BE49-F238E27FC236}">
                <a16:creationId xmlns:a16="http://schemas.microsoft.com/office/drawing/2014/main" id="{D94805EB-68F0-0925-B5E2-992A26ACDC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78064D-3984-66E1-79F6-BF412DE9007B}"/>
              </a:ext>
            </a:extLst>
          </p:cNvPr>
          <p:cNvSpPr>
            <a:spLocks noGrp="1"/>
          </p:cNvSpPr>
          <p:nvPr>
            <p:ph type="sldNum" sz="quarter" idx="12"/>
          </p:nvPr>
        </p:nvSpPr>
        <p:spPr/>
        <p:txBody>
          <a:bodyPr/>
          <a:lstStyle/>
          <a:p>
            <a:fld id="{C41024BC-5968-4735-8D30-B72DEF6BE683}" type="slidenum">
              <a:rPr lang="en-US" smtClean="0"/>
              <a:t>‹#›</a:t>
            </a:fld>
            <a:endParaRPr lang="en-US"/>
          </a:p>
        </p:txBody>
      </p:sp>
    </p:spTree>
    <p:extLst>
      <p:ext uri="{BB962C8B-B14F-4D97-AF65-F5344CB8AC3E}">
        <p14:creationId xmlns:p14="http://schemas.microsoft.com/office/powerpoint/2010/main" val="23878899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E40A8-7CE6-6E2F-987D-F9931444B2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49A3B3C-B1CD-FC66-30C0-066CC8711E3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7130723-2359-C212-1784-4C60E5DC26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286E1BF-418B-5A5E-B8CE-971EBA46EBA1}"/>
              </a:ext>
            </a:extLst>
          </p:cNvPr>
          <p:cNvSpPr>
            <a:spLocks noGrp="1"/>
          </p:cNvSpPr>
          <p:nvPr>
            <p:ph type="dt" sz="half" idx="10"/>
          </p:nvPr>
        </p:nvSpPr>
        <p:spPr/>
        <p:txBody>
          <a:bodyPr/>
          <a:lstStyle/>
          <a:p>
            <a:fld id="{F10901DB-E840-4150-8207-866BDD25D22F}" type="datetimeFigureOut">
              <a:rPr lang="en-US" smtClean="0"/>
              <a:t>10/7/2026</a:t>
            </a:fld>
            <a:endParaRPr lang="en-US"/>
          </a:p>
        </p:txBody>
      </p:sp>
      <p:sp>
        <p:nvSpPr>
          <p:cNvPr id="6" name="Footer Placeholder 5">
            <a:extLst>
              <a:ext uri="{FF2B5EF4-FFF2-40B4-BE49-F238E27FC236}">
                <a16:creationId xmlns:a16="http://schemas.microsoft.com/office/drawing/2014/main" id="{0D858B19-C047-7376-4094-335A262B87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E3E811-B1A3-3062-66D6-3B924C39DCF1}"/>
              </a:ext>
            </a:extLst>
          </p:cNvPr>
          <p:cNvSpPr>
            <a:spLocks noGrp="1"/>
          </p:cNvSpPr>
          <p:nvPr>
            <p:ph type="sldNum" sz="quarter" idx="12"/>
          </p:nvPr>
        </p:nvSpPr>
        <p:spPr/>
        <p:txBody>
          <a:bodyPr/>
          <a:lstStyle/>
          <a:p>
            <a:fld id="{C41024BC-5968-4735-8D30-B72DEF6BE683}" type="slidenum">
              <a:rPr lang="en-US" smtClean="0"/>
              <a:t>‹#›</a:t>
            </a:fld>
            <a:endParaRPr lang="en-US"/>
          </a:p>
        </p:txBody>
      </p:sp>
    </p:spTree>
    <p:extLst>
      <p:ext uri="{BB962C8B-B14F-4D97-AF65-F5344CB8AC3E}">
        <p14:creationId xmlns:p14="http://schemas.microsoft.com/office/powerpoint/2010/main" val="22140510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E613B-3E08-B9D4-3543-2765320040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54B8505-E673-B14D-57BC-B609C294E3E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ED7D8F-1AC7-0420-F070-FDFD3C35B784}"/>
              </a:ext>
            </a:extLst>
          </p:cNvPr>
          <p:cNvSpPr>
            <a:spLocks noGrp="1"/>
          </p:cNvSpPr>
          <p:nvPr>
            <p:ph type="dt" sz="half" idx="10"/>
          </p:nvPr>
        </p:nvSpPr>
        <p:spPr/>
        <p:txBody>
          <a:bodyPr/>
          <a:lstStyle/>
          <a:p>
            <a:fld id="{F10901DB-E840-4150-8207-866BDD25D22F}" type="datetimeFigureOut">
              <a:rPr lang="en-US" smtClean="0"/>
              <a:t>10/7/2026</a:t>
            </a:fld>
            <a:endParaRPr lang="en-US"/>
          </a:p>
        </p:txBody>
      </p:sp>
      <p:sp>
        <p:nvSpPr>
          <p:cNvPr id="5" name="Footer Placeholder 4">
            <a:extLst>
              <a:ext uri="{FF2B5EF4-FFF2-40B4-BE49-F238E27FC236}">
                <a16:creationId xmlns:a16="http://schemas.microsoft.com/office/drawing/2014/main" id="{3692FD22-A5B5-C5E8-19C9-E29BD895B0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2D55BE-B31F-9976-5801-16A4491DC193}"/>
              </a:ext>
            </a:extLst>
          </p:cNvPr>
          <p:cNvSpPr>
            <a:spLocks noGrp="1"/>
          </p:cNvSpPr>
          <p:nvPr>
            <p:ph type="sldNum" sz="quarter" idx="12"/>
          </p:nvPr>
        </p:nvSpPr>
        <p:spPr/>
        <p:txBody>
          <a:bodyPr/>
          <a:lstStyle/>
          <a:p>
            <a:fld id="{C41024BC-5968-4735-8D30-B72DEF6BE683}" type="slidenum">
              <a:rPr lang="en-US" smtClean="0"/>
              <a:t>‹#›</a:t>
            </a:fld>
            <a:endParaRPr lang="en-US"/>
          </a:p>
        </p:txBody>
      </p:sp>
    </p:spTree>
    <p:extLst>
      <p:ext uri="{BB962C8B-B14F-4D97-AF65-F5344CB8AC3E}">
        <p14:creationId xmlns:p14="http://schemas.microsoft.com/office/powerpoint/2010/main" val="8022747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E714E13-7DDD-7B01-B532-2B2A88B6633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B1CBB8E-647A-192C-E328-241E73841B4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BDFD78-3A20-22DE-6D4C-9A66BC0078A4}"/>
              </a:ext>
            </a:extLst>
          </p:cNvPr>
          <p:cNvSpPr>
            <a:spLocks noGrp="1"/>
          </p:cNvSpPr>
          <p:nvPr>
            <p:ph type="dt" sz="half" idx="10"/>
          </p:nvPr>
        </p:nvSpPr>
        <p:spPr/>
        <p:txBody>
          <a:bodyPr/>
          <a:lstStyle/>
          <a:p>
            <a:fld id="{F10901DB-E840-4150-8207-866BDD25D22F}" type="datetimeFigureOut">
              <a:rPr lang="en-US" smtClean="0"/>
              <a:t>10/7/2026</a:t>
            </a:fld>
            <a:endParaRPr lang="en-US"/>
          </a:p>
        </p:txBody>
      </p:sp>
      <p:sp>
        <p:nvSpPr>
          <p:cNvPr id="5" name="Footer Placeholder 4">
            <a:extLst>
              <a:ext uri="{FF2B5EF4-FFF2-40B4-BE49-F238E27FC236}">
                <a16:creationId xmlns:a16="http://schemas.microsoft.com/office/drawing/2014/main" id="{639FA80B-D752-6CA7-C60B-AAF3A51B52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C1C125-E0EA-8BB4-A43E-4E1CCF0CDD89}"/>
              </a:ext>
            </a:extLst>
          </p:cNvPr>
          <p:cNvSpPr>
            <a:spLocks noGrp="1"/>
          </p:cNvSpPr>
          <p:nvPr>
            <p:ph type="sldNum" sz="quarter" idx="12"/>
          </p:nvPr>
        </p:nvSpPr>
        <p:spPr/>
        <p:txBody>
          <a:bodyPr/>
          <a:lstStyle/>
          <a:p>
            <a:fld id="{C41024BC-5968-4735-8D30-B72DEF6BE683}" type="slidenum">
              <a:rPr lang="en-US" smtClean="0"/>
              <a:t>‹#›</a:t>
            </a:fld>
            <a:endParaRPr lang="en-US"/>
          </a:p>
        </p:txBody>
      </p:sp>
    </p:spTree>
    <p:extLst>
      <p:ext uri="{BB962C8B-B14F-4D97-AF65-F5344CB8AC3E}">
        <p14:creationId xmlns:p14="http://schemas.microsoft.com/office/powerpoint/2010/main" val="16601968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pPr fontAlgn="base"/>
            <a:r>
              <a:rPr lang="en-US" strike="noStrike" noProof="1"/>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fontAlgn="base"/>
            <a:r>
              <a:rPr lang="en-US" strike="noStrike" noProof="1"/>
              <a:t>Click to edit Master subtitle style</a:t>
            </a:r>
          </a:p>
        </p:txBody>
      </p:sp>
      <p:sp>
        <p:nvSpPr>
          <p:cNvPr id="4" name="Date Placeholder 3"/>
          <p:cNvSpPr>
            <a:spLocks noGrp="1"/>
          </p:cNvSpPr>
          <p:nvPr>
            <p:ph type="dt" sz="half" idx="10"/>
          </p:nvPr>
        </p:nvSpPr>
        <p:spPr/>
        <p:txBody>
          <a:bodyPr/>
          <a:lstStyle/>
          <a:p>
            <a:pPr fontAlgn="base">
              <a:spcBef>
                <a:spcPct val="0"/>
              </a:spcBef>
              <a:spcAft>
                <a:spcPct val="0"/>
              </a:spcAft>
              <a:defRPr/>
            </a:pPr>
            <a:fld id="{74E860EC-E542-457A-B70C-3F9F24F46ECA}" type="datetime1">
              <a:rPr lang="en-US" smtClean="0">
                <a:ea typeface="MS PGothic" panose="020B0600070205080204" pitchFamily="34" charset="-128"/>
              </a:rPr>
              <a:pPr fontAlgn="base">
                <a:spcBef>
                  <a:spcPct val="0"/>
                </a:spcBef>
                <a:spcAft>
                  <a:spcPct val="0"/>
                </a:spcAft>
                <a:defRPr/>
              </a:pPr>
              <a:t>10/7/2026</a:t>
            </a:fld>
            <a:endParaRPr lang="en-US">
              <a:ea typeface="MS PGothic" panose="020B0600070205080204" pitchFamily="34" charset="-128"/>
            </a:endParaRPr>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smtClean="0">
                <a:ea typeface="MS PGothic" panose="020B0600070205080204" pitchFamily="34" charset="-128"/>
              </a:rPr>
              <a:pPr fontAlgn="base">
                <a:spcBef>
                  <a:spcPct val="0"/>
                </a:spcBef>
                <a:spcAft>
                  <a:spcPct val="0"/>
                </a:spcAft>
                <a:defRPr/>
              </a:pPr>
              <a:t>‹#›</a:t>
            </a:fld>
            <a:endParaRPr lang="en-US" altLang="en-US">
              <a:ea typeface="MS PGothic" panose="020B0600070205080204" pitchFamily="34" charset="-128"/>
            </a:endParaRPr>
          </a:p>
        </p:txBody>
      </p:sp>
    </p:spTree>
    <p:extLst>
      <p:ext uri="{BB962C8B-B14F-4D97-AF65-F5344CB8AC3E}">
        <p14:creationId xmlns:p14="http://schemas.microsoft.com/office/powerpoint/2010/main" val="4483390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p>
        </p:txBody>
      </p:sp>
      <p:sp>
        <p:nvSpPr>
          <p:cNvPr id="3" name="Content Placeholder 2"/>
          <p:cNvSpPr>
            <a:spLocks noGrp="1"/>
          </p:cNvSpPr>
          <p:nvPr>
            <p:ph idx="1"/>
          </p:nvPr>
        </p:nvSpPr>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4" name="Date Placeholder 3"/>
          <p:cNvSpPr>
            <a:spLocks noGrp="1"/>
          </p:cNvSpPr>
          <p:nvPr>
            <p:ph type="dt" sz="half" idx="10"/>
          </p:nvPr>
        </p:nvSpPr>
        <p:spPr/>
        <p:txBody>
          <a:bodyPr/>
          <a:lstStyle/>
          <a:p>
            <a:pPr fontAlgn="base">
              <a:spcBef>
                <a:spcPct val="0"/>
              </a:spcBef>
              <a:spcAft>
                <a:spcPct val="0"/>
              </a:spcAft>
              <a:defRPr/>
            </a:pPr>
            <a:fld id="{A9287898-D9AE-4049-9D19-ED0B1E1963CA}" type="datetime1">
              <a:rPr lang="en-US" smtClean="0">
                <a:ea typeface="MS PGothic" panose="020B0600070205080204" pitchFamily="34" charset="-128"/>
              </a:rPr>
              <a:pPr fontAlgn="base">
                <a:spcBef>
                  <a:spcPct val="0"/>
                </a:spcBef>
                <a:spcAft>
                  <a:spcPct val="0"/>
                </a:spcAft>
                <a:defRPr/>
              </a:pPr>
              <a:t>10/7/2026</a:t>
            </a:fld>
            <a:endParaRPr lang="en-US">
              <a:ea typeface="MS PGothic" panose="020B0600070205080204" pitchFamily="34" charset="-128"/>
            </a:endParaRPr>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smtClean="0">
                <a:ea typeface="MS PGothic" panose="020B0600070205080204" pitchFamily="34" charset="-128"/>
              </a:rPr>
              <a:pPr fontAlgn="base">
                <a:spcBef>
                  <a:spcPct val="0"/>
                </a:spcBef>
                <a:spcAft>
                  <a:spcPct val="0"/>
                </a:spcAft>
                <a:defRPr/>
              </a:pPr>
              <a:t>‹#›</a:t>
            </a:fld>
            <a:endParaRPr lang="en-US" altLang="en-US">
              <a:ea typeface="MS PGothic" panose="020B0600070205080204" pitchFamily="34" charset="-128"/>
            </a:endParaRPr>
          </a:p>
        </p:txBody>
      </p:sp>
    </p:spTree>
    <p:extLst>
      <p:ext uri="{BB962C8B-B14F-4D97-AF65-F5344CB8AC3E}">
        <p14:creationId xmlns:p14="http://schemas.microsoft.com/office/powerpoint/2010/main" val="33042258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pPr fontAlgn="base"/>
            <a:r>
              <a:rPr lang="en-US" strike="noStrike" noProof="1"/>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fontAlgn="base"/>
            <a:r>
              <a:rPr lang="en-US" strike="noStrike" noProof="1"/>
              <a:t>Click to edit Master text styles</a:t>
            </a:r>
          </a:p>
        </p:txBody>
      </p:sp>
      <p:sp>
        <p:nvSpPr>
          <p:cNvPr id="4" name="Date Placeholder 3"/>
          <p:cNvSpPr>
            <a:spLocks noGrp="1"/>
          </p:cNvSpPr>
          <p:nvPr>
            <p:ph type="dt" sz="half" idx="10"/>
          </p:nvPr>
        </p:nvSpPr>
        <p:spPr/>
        <p:txBody>
          <a:bodyPr/>
          <a:lstStyle/>
          <a:p>
            <a:pPr fontAlgn="base">
              <a:spcBef>
                <a:spcPct val="0"/>
              </a:spcBef>
              <a:spcAft>
                <a:spcPct val="0"/>
              </a:spcAft>
              <a:defRPr/>
            </a:pPr>
            <a:fld id="{39162D6E-70EE-4FB2-88ED-8A53CBADEAC3}" type="datetime1">
              <a:rPr lang="en-US" smtClean="0">
                <a:ea typeface="MS PGothic" panose="020B0600070205080204" pitchFamily="34" charset="-128"/>
              </a:rPr>
              <a:pPr fontAlgn="base">
                <a:spcBef>
                  <a:spcPct val="0"/>
                </a:spcBef>
                <a:spcAft>
                  <a:spcPct val="0"/>
                </a:spcAft>
                <a:defRPr/>
              </a:pPr>
              <a:t>10/7/2026</a:t>
            </a:fld>
            <a:endParaRPr lang="en-US">
              <a:ea typeface="MS PGothic" panose="020B0600070205080204" pitchFamily="34" charset="-128"/>
            </a:endParaRPr>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smtClean="0">
                <a:ea typeface="MS PGothic" panose="020B0600070205080204" pitchFamily="34" charset="-128"/>
              </a:rPr>
              <a:pPr fontAlgn="base">
                <a:spcBef>
                  <a:spcPct val="0"/>
                </a:spcBef>
                <a:spcAft>
                  <a:spcPct val="0"/>
                </a:spcAft>
                <a:defRPr/>
              </a:pPr>
              <a:t>‹#›</a:t>
            </a:fld>
            <a:endParaRPr lang="en-US" altLang="en-US">
              <a:ea typeface="MS PGothic" panose="020B0600070205080204" pitchFamily="34" charset="-128"/>
            </a:endParaRPr>
          </a:p>
        </p:txBody>
      </p:sp>
    </p:spTree>
    <p:extLst>
      <p:ext uri="{BB962C8B-B14F-4D97-AF65-F5344CB8AC3E}">
        <p14:creationId xmlns:p14="http://schemas.microsoft.com/office/powerpoint/2010/main" val="41851392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5" name="Date Placeholder 4"/>
          <p:cNvSpPr>
            <a:spLocks noGrp="1"/>
          </p:cNvSpPr>
          <p:nvPr>
            <p:ph type="dt" sz="half" idx="10"/>
          </p:nvPr>
        </p:nvSpPr>
        <p:spPr/>
        <p:txBody>
          <a:bodyPr/>
          <a:lstStyle/>
          <a:p>
            <a:pPr fontAlgn="base">
              <a:spcBef>
                <a:spcPct val="0"/>
              </a:spcBef>
              <a:spcAft>
                <a:spcPct val="0"/>
              </a:spcAft>
              <a:defRPr/>
            </a:pPr>
            <a:fld id="{D3680DC9-3D5C-4B78-93A2-8216A5967CEE}" type="datetime1">
              <a:rPr lang="en-US" smtClean="0">
                <a:ea typeface="MS PGothic" panose="020B0600070205080204" pitchFamily="34" charset="-128"/>
              </a:rPr>
              <a:pPr fontAlgn="base">
                <a:spcBef>
                  <a:spcPct val="0"/>
                </a:spcBef>
                <a:spcAft>
                  <a:spcPct val="0"/>
                </a:spcAft>
                <a:defRPr/>
              </a:pPr>
              <a:t>10/7/2026</a:t>
            </a:fld>
            <a:endParaRPr lang="en-US">
              <a:ea typeface="MS PGothic" panose="020B0600070205080204" pitchFamily="34" charset="-128"/>
            </a:endParaRPr>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smtClean="0">
                <a:ea typeface="MS PGothic" panose="020B0600070205080204" pitchFamily="34" charset="-128"/>
              </a:rPr>
              <a:pPr fontAlgn="base">
                <a:spcBef>
                  <a:spcPct val="0"/>
                </a:spcBef>
                <a:spcAft>
                  <a:spcPct val="0"/>
                </a:spcAft>
                <a:defRPr/>
              </a:pPr>
              <a:t>‹#›</a:t>
            </a:fld>
            <a:endParaRPr lang="en-US" altLang="en-US">
              <a:ea typeface="MS PGothic" panose="020B0600070205080204" pitchFamily="34" charset="-128"/>
            </a:endParaRPr>
          </a:p>
        </p:txBody>
      </p:sp>
    </p:spTree>
    <p:extLst>
      <p:ext uri="{BB962C8B-B14F-4D97-AF65-F5344CB8AC3E}">
        <p14:creationId xmlns:p14="http://schemas.microsoft.com/office/powerpoint/2010/main" val="9596568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pPr fontAlgn="base"/>
            <a:r>
              <a:rPr lang="en-US" strike="noStrike" noProof="1"/>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en-US" strike="noStrike" noProof="1"/>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en-US" strike="noStrike" noProof="1"/>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7" name="Date Placeholder 6"/>
          <p:cNvSpPr>
            <a:spLocks noGrp="1"/>
          </p:cNvSpPr>
          <p:nvPr>
            <p:ph type="dt" sz="half" idx="10"/>
          </p:nvPr>
        </p:nvSpPr>
        <p:spPr/>
        <p:txBody>
          <a:bodyPr/>
          <a:lstStyle/>
          <a:p>
            <a:pPr fontAlgn="base">
              <a:spcBef>
                <a:spcPct val="0"/>
              </a:spcBef>
              <a:spcAft>
                <a:spcPct val="0"/>
              </a:spcAft>
              <a:defRPr/>
            </a:pPr>
            <a:fld id="{BB9EE8C9-0B5D-4609-8390-6AA8549DB10F}" type="datetime1">
              <a:rPr lang="en-US" smtClean="0">
                <a:ea typeface="MS PGothic" panose="020B0600070205080204" pitchFamily="34" charset="-128"/>
              </a:rPr>
              <a:pPr fontAlgn="base">
                <a:spcBef>
                  <a:spcPct val="0"/>
                </a:spcBef>
                <a:spcAft>
                  <a:spcPct val="0"/>
                </a:spcAft>
                <a:defRPr/>
              </a:pPr>
              <a:t>10/7/2026</a:t>
            </a:fld>
            <a:endParaRPr lang="en-US">
              <a:ea typeface="MS PGothic" panose="020B0600070205080204" pitchFamily="34" charset="-128"/>
            </a:endParaRPr>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smtClean="0">
                <a:ea typeface="MS PGothic" panose="020B0600070205080204" pitchFamily="34" charset="-128"/>
              </a:rPr>
              <a:pPr fontAlgn="base">
                <a:spcBef>
                  <a:spcPct val="0"/>
                </a:spcBef>
                <a:spcAft>
                  <a:spcPct val="0"/>
                </a:spcAft>
                <a:defRPr/>
              </a:pPr>
              <a:t>‹#›</a:t>
            </a:fld>
            <a:endParaRPr lang="en-US" altLang="en-US">
              <a:ea typeface="MS PGothic" panose="020B0600070205080204" pitchFamily="34" charset="-128"/>
            </a:endParaRPr>
          </a:p>
        </p:txBody>
      </p:sp>
    </p:spTree>
    <p:extLst>
      <p:ext uri="{BB962C8B-B14F-4D97-AF65-F5344CB8AC3E}">
        <p14:creationId xmlns:p14="http://schemas.microsoft.com/office/powerpoint/2010/main" val="17800536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p>
        </p:txBody>
      </p:sp>
      <p:sp>
        <p:nvSpPr>
          <p:cNvPr id="3" name="Date Placeholder 2"/>
          <p:cNvSpPr>
            <a:spLocks noGrp="1"/>
          </p:cNvSpPr>
          <p:nvPr>
            <p:ph type="dt" sz="half" idx="10"/>
          </p:nvPr>
        </p:nvSpPr>
        <p:spPr/>
        <p:txBody>
          <a:bodyPr/>
          <a:lstStyle/>
          <a:p>
            <a:pPr fontAlgn="base">
              <a:spcBef>
                <a:spcPct val="0"/>
              </a:spcBef>
              <a:spcAft>
                <a:spcPct val="0"/>
              </a:spcAft>
              <a:defRPr/>
            </a:pPr>
            <a:fld id="{DCD4ABCE-EACE-4151-B61F-945E2463617C}" type="datetime1">
              <a:rPr lang="en-US" smtClean="0">
                <a:ea typeface="MS PGothic" panose="020B0600070205080204" pitchFamily="34" charset="-128"/>
              </a:rPr>
              <a:pPr fontAlgn="base">
                <a:spcBef>
                  <a:spcPct val="0"/>
                </a:spcBef>
                <a:spcAft>
                  <a:spcPct val="0"/>
                </a:spcAft>
                <a:defRPr/>
              </a:pPr>
              <a:t>10/7/2026</a:t>
            </a:fld>
            <a:endParaRPr lang="en-US">
              <a:ea typeface="MS PGothic" panose="020B0600070205080204" pitchFamily="34" charset="-128"/>
            </a:endParaRPr>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smtClean="0">
                <a:ea typeface="MS PGothic" panose="020B0600070205080204" pitchFamily="34" charset="-128"/>
              </a:rPr>
              <a:pPr fontAlgn="base">
                <a:spcBef>
                  <a:spcPct val="0"/>
                </a:spcBef>
                <a:spcAft>
                  <a:spcPct val="0"/>
                </a:spcAft>
                <a:defRPr/>
              </a:pPr>
              <a:t>‹#›</a:t>
            </a:fld>
            <a:endParaRPr lang="en-US" altLang="en-US">
              <a:ea typeface="MS PGothic" panose="020B0600070205080204" pitchFamily="34" charset="-128"/>
            </a:endParaRPr>
          </a:p>
        </p:txBody>
      </p:sp>
    </p:spTree>
    <p:extLst>
      <p:ext uri="{BB962C8B-B14F-4D97-AF65-F5344CB8AC3E}">
        <p14:creationId xmlns:p14="http://schemas.microsoft.com/office/powerpoint/2010/main" val="38173220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fontAlgn="base">
              <a:spcBef>
                <a:spcPct val="0"/>
              </a:spcBef>
              <a:spcAft>
                <a:spcPct val="0"/>
              </a:spcAft>
              <a:defRPr/>
            </a:pPr>
            <a:fld id="{CDF28FB7-0FB9-463E-BF45-7E2885595341}" type="datetime1">
              <a:rPr lang="en-US" smtClean="0">
                <a:ea typeface="MS PGothic" panose="020B0600070205080204" pitchFamily="34" charset="-128"/>
              </a:rPr>
              <a:pPr fontAlgn="base">
                <a:spcBef>
                  <a:spcPct val="0"/>
                </a:spcBef>
                <a:spcAft>
                  <a:spcPct val="0"/>
                </a:spcAft>
                <a:defRPr/>
              </a:pPr>
              <a:t>10/7/2026</a:t>
            </a:fld>
            <a:endParaRPr lang="en-US">
              <a:ea typeface="MS PGothic" panose="020B0600070205080204" pitchFamily="34" charset="-128"/>
            </a:endParaRPr>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smtClean="0">
                <a:ea typeface="MS PGothic" panose="020B0600070205080204" pitchFamily="34" charset="-128"/>
              </a:rPr>
              <a:pPr fontAlgn="base">
                <a:spcBef>
                  <a:spcPct val="0"/>
                </a:spcBef>
                <a:spcAft>
                  <a:spcPct val="0"/>
                </a:spcAft>
                <a:defRPr/>
              </a:pPr>
              <a:t>‹#›</a:t>
            </a:fld>
            <a:endParaRPr lang="en-US" altLang="en-US">
              <a:ea typeface="MS PGothic" panose="020B0600070205080204" pitchFamily="34" charset="-128"/>
            </a:endParaRPr>
          </a:p>
        </p:txBody>
      </p:sp>
    </p:spTree>
    <p:extLst>
      <p:ext uri="{BB962C8B-B14F-4D97-AF65-F5344CB8AC3E}">
        <p14:creationId xmlns:p14="http://schemas.microsoft.com/office/powerpoint/2010/main" val="15306472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pPr fontAlgn="base"/>
            <a:r>
              <a:rPr lang="en-US" strike="noStrike" noProof="1"/>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en-US" strike="noStrike" noProof="1"/>
              <a:t>Click to edit Master text styles</a:t>
            </a:r>
          </a:p>
        </p:txBody>
      </p:sp>
      <p:sp>
        <p:nvSpPr>
          <p:cNvPr id="5" name="Date Placeholder 4"/>
          <p:cNvSpPr>
            <a:spLocks noGrp="1"/>
          </p:cNvSpPr>
          <p:nvPr>
            <p:ph type="dt" sz="half" idx="10"/>
          </p:nvPr>
        </p:nvSpPr>
        <p:spPr/>
        <p:txBody>
          <a:bodyPr/>
          <a:lstStyle/>
          <a:p>
            <a:pPr fontAlgn="base">
              <a:spcBef>
                <a:spcPct val="0"/>
              </a:spcBef>
              <a:spcAft>
                <a:spcPct val="0"/>
              </a:spcAft>
              <a:defRPr/>
            </a:pPr>
            <a:fld id="{68F30A16-9233-43B3-A274-11457D04124B}" type="datetime1">
              <a:rPr lang="en-US" smtClean="0">
                <a:ea typeface="MS PGothic" panose="020B0600070205080204" pitchFamily="34" charset="-128"/>
              </a:rPr>
              <a:pPr fontAlgn="base">
                <a:spcBef>
                  <a:spcPct val="0"/>
                </a:spcBef>
                <a:spcAft>
                  <a:spcPct val="0"/>
                </a:spcAft>
                <a:defRPr/>
              </a:pPr>
              <a:t>10/7/2026</a:t>
            </a:fld>
            <a:endParaRPr lang="en-US">
              <a:ea typeface="MS PGothic" panose="020B0600070205080204" pitchFamily="34" charset="-128"/>
            </a:endParaRPr>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smtClean="0">
                <a:ea typeface="MS PGothic" panose="020B0600070205080204" pitchFamily="34" charset="-128"/>
              </a:rPr>
              <a:pPr fontAlgn="base">
                <a:spcBef>
                  <a:spcPct val="0"/>
                </a:spcBef>
                <a:spcAft>
                  <a:spcPct val="0"/>
                </a:spcAft>
                <a:defRPr/>
              </a:pPr>
              <a:t>‹#›</a:t>
            </a:fld>
            <a:endParaRPr lang="en-US" altLang="en-US">
              <a:ea typeface="MS PGothic" panose="020B0600070205080204" pitchFamily="34" charset="-128"/>
            </a:endParaRPr>
          </a:p>
        </p:txBody>
      </p:sp>
    </p:spTree>
    <p:extLst>
      <p:ext uri="{BB962C8B-B14F-4D97-AF65-F5344CB8AC3E}">
        <p14:creationId xmlns:p14="http://schemas.microsoft.com/office/powerpoint/2010/main" val="246597996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pPr fontAlgn="base"/>
            <a:r>
              <a:rPr lang="en-US" strike="noStrike" noProof="1"/>
              <a:t>Click to edit Master title style</a:t>
            </a:r>
          </a:p>
        </p:txBody>
      </p:sp>
      <p:sp>
        <p:nvSpPr>
          <p:cNvPr id="3" name="Picture Placeholder 2"/>
          <p:cNvSpPr>
            <a:spLocks noGrp="1"/>
          </p:cNvSpPr>
          <p:nvPr>
            <p:ph type="pic" idx="1"/>
          </p:nvPr>
        </p:nvSpPr>
        <p:spPr>
          <a:xfrm>
            <a:off x="2389717" y="612775"/>
            <a:ext cx="73152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sz="3200" b="0" i="0" u="none" strike="noStrike" kern="1200" cap="none" spc="0" normalizeH="0" baseline="0" noProof="0">
              <a:ln>
                <a:noFill/>
              </a:ln>
              <a:solidFill>
                <a:schemeClr val="tx1"/>
              </a:solidFill>
              <a:effectLst/>
              <a:uLnTx/>
              <a:uFillTx/>
              <a:latin typeface="+mn-lt"/>
              <a:ea typeface="MS PGothic" panose="020B0600070205080204" pitchFamily="34" charset="-128"/>
              <a:cs typeface="+mn-cs"/>
            </a:endParaRP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en-US" strike="noStrike" noProof="1"/>
              <a:t>Click to edit Master text styles</a:t>
            </a:r>
          </a:p>
        </p:txBody>
      </p:sp>
      <p:sp>
        <p:nvSpPr>
          <p:cNvPr id="5" name="Date Placeholder 4"/>
          <p:cNvSpPr>
            <a:spLocks noGrp="1"/>
          </p:cNvSpPr>
          <p:nvPr>
            <p:ph type="dt" sz="half" idx="10"/>
          </p:nvPr>
        </p:nvSpPr>
        <p:spPr/>
        <p:txBody>
          <a:bodyPr/>
          <a:lstStyle/>
          <a:p>
            <a:pPr fontAlgn="base">
              <a:spcBef>
                <a:spcPct val="0"/>
              </a:spcBef>
              <a:spcAft>
                <a:spcPct val="0"/>
              </a:spcAft>
              <a:defRPr/>
            </a:pPr>
            <a:fld id="{E8677AB9-B3E0-47F2-91D3-109594D79C4B}" type="datetime1">
              <a:rPr lang="en-US" smtClean="0">
                <a:ea typeface="MS PGothic" panose="020B0600070205080204" pitchFamily="34" charset="-128"/>
              </a:rPr>
              <a:pPr fontAlgn="base">
                <a:spcBef>
                  <a:spcPct val="0"/>
                </a:spcBef>
                <a:spcAft>
                  <a:spcPct val="0"/>
                </a:spcAft>
                <a:defRPr/>
              </a:pPr>
              <a:t>10/7/2026</a:t>
            </a:fld>
            <a:endParaRPr lang="en-US">
              <a:ea typeface="MS PGothic" panose="020B0600070205080204" pitchFamily="34" charset="-128"/>
            </a:endParaRPr>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smtClean="0">
                <a:ea typeface="MS PGothic" panose="020B0600070205080204" pitchFamily="34" charset="-128"/>
              </a:rPr>
              <a:pPr fontAlgn="base">
                <a:spcBef>
                  <a:spcPct val="0"/>
                </a:spcBef>
                <a:spcAft>
                  <a:spcPct val="0"/>
                </a:spcAft>
                <a:defRPr/>
              </a:pPr>
              <a:t>‹#›</a:t>
            </a:fld>
            <a:endParaRPr lang="en-US" altLang="en-US">
              <a:ea typeface="MS PGothic" panose="020B0600070205080204" pitchFamily="34" charset="-128"/>
            </a:endParaRPr>
          </a:p>
        </p:txBody>
      </p:sp>
    </p:spTree>
    <p:extLst>
      <p:ext uri="{BB962C8B-B14F-4D97-AF65-F5344CB8AC3E}">
        <p14:creationId xmlns:p14="http://schemas.microsoft.com/office/powerpoint/2010/main" val="61943193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p>
        </p:txBody>
      </p:sp>
      <p:sp>
        <p:nvSpPr>
          <p:cNvPr id="3" name="Vertical Text Placeholder 2"/>
          <p:cNvSpPr>
            <a:spLocks noGrp="1"/>
          </p:cNvSpPr>
          <p:nvPr>
            <p:ph type="body" orient="vert" idx="1"/>
          </p:nvPr>
        </p:nvSpPr>
        <p:spPr/>
        <p:txBody>
          <a:bodyPr vert="eaVert"/>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4" name="Date Placeholder 3"/>
          <p:cNvSpPr>
            <a:spLocks noGrp="1"/>
          </p:cNvSpPr>
          <p:nvPr>
            <p:ph type="dt" sz="half" idx="10"/>
          </p:nvPr>
        </p:nvSpPr>
        <p:spPr/>
        <p:txBody>
          <a:bodyPr/>
          <a:lstStyle/>
          <a:p>
            <a:pPr fontAlgn="base">
              <a:spcBef>
                <a:spcPct val="0"/>
              </a:spcBef>
              <a:spcAft>
                <a:spcPct val="0"/>
              </a:spcAft>
              <a:defRPr/>
            </a:pPr>
            <a:fld id="{A7F2A97E-5CE7-416F-AB2B-5750179EE4FB}" type="datetime1">
              <a:rPr lang="en-US" smtClean="0">
                <a:ea typeface="MS PGothic" panose="020B0600070205080204" pitchFamily="34" charset="-128"/>
              </a:rPr>
              <a:pPr fontAlgn="base">
                <a:spcBef>
                  <a:spcPct val="0"/>
                </a:spcBef>
                <a:spcAft>
                  <a:spcPct val="0"/>
                </a:spcAft>
                <a:defRPr/>
              </a:pPr>
              <a:t>10/7/2026</a:t>
            </a:fld>
            <a:endParaRPr lang="en-US">
              <a:ea typeface="MS PGothic" panose="020B0600070205080204" pitchFamily="34" charset="-128"/>
            </a:endParaRPr>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smtClean="0">
                <a:ea typeface="MS PGothic" panose="020B0600070205080204" pitchFamily="34" charset="-128"/>
              </a:rPr>
              <a:pPr fontAlgn="base">
                <a:spcBef>
                  <a:spcPct val="0"/>
                </a:spcBef>
                <a:spcAft>
                  <a:spcPct val="0"/>
                </a:spcAft>
                <a:defRPr/>
              </a:pPr>
              <a:t>‹#›</a:t>
            </a:fld>
            <a:endParaRPr lang="en-US" altLang="en-US">
              <a:ea typeface="MS PGothic" panose="020B0600070205080204" pitchFamily="34" charset="-128"/>
            </a:endParaRPr>
          </a:p>
        </p:txBody>
      </p:sp>
    </p:spTree>
    <p:extLst>
      <p:ext uri="{BB962C8B-B14F-4D97-AF65-F5344CB8AC3E}">
        <p14:creationId xmlns:p14="http://schemas.microsoft.com/office/powerpoint/2010/main" val="286071277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pPr fontAlgn="base"/>
            <a:r>
              <a:rPr lang="en-US" strike="noStrike" noProof="1"/>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4" name="Date Placeholder 3"/>
          <p:cNvSpPr>
            <a:spLocks noGrp="1"/>
          </p:cNvSpPr>
          <p:nvPr>
            <p:ph type="dt" sz="half" idx="10"/>
          </p:nvPr>
        </p:nvSpPr>
        <p:spPr/>
        <p:txBody>
          <a:bodyPr/>
          <a:lstStyle/>
          <a:p>
            <a:pPr fontAlgn="base">
              <a:spcBef>
                <a:spcPct val="0"/>
              </a:spcBef>
              <a:spcAft>
                <a:spcPct val="0"/>
              </a:spcAft>
              <a:defRPr/>
            </a:pPr>
            <a:fld id="{A6E4A193-398A-4DA3-ABE0-39035D81DE08}" type="datetime1">
              <a:rPr lang="en-US" smtClean="0">
                <a:ea typeface="MS PGothic" panose="020B0600070205080204" pitchFamily="34" charset="-128"/>
              </a:rPr>
              <a:pPr fontAlgn="base">
                <a:spcBef>
                  <a:spcPct val="0"/>
                </a:spcBef>
                <a:spcAft>
                  <a:spcPct val="0"/>
                </a:spcAft>
                <a:defRPr/>
              </a:pPr>
              <a:t>10/7/2026</a:t>
            </a:fld>
            <a:endParaRPr lang="en-US">
              <a:ea typeface="MS PGothic" panose="020B0600070205080204" pitchFamily="34" charset="-128"/>
            </a:endParaRPr>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smtClean="0">
                <a:ea typeface="MS PGothic" panose="020B0600070205080204" pitchFamily="34" charset="-128"/>
              </a:rPr>
              <a:pPr fontAlgn="base">
                <a:spcBef>
                  <a:spcPct val="0"/>
                </a:spcBef>
                <a:spcAft>
                  <a:spcPct val="0"/>
                </a:spcAft>
                <a:defRPr/>
              </a:pPr>
              <a:t>‹#›</a:t>
            </a:fld>
            <a:endParaRPr lang="en-US" altLang="en-US">
              <a:ea typeface="MS PGothic" panose="020B0600070205080204" pitchFamily="34" charset="-128"/>
            </a:endParaRPr>
          </a:p>
        </p:txBody>
      </p:sp>
    </p:spTree>
    <p:extLst>
      <p:ext uri="{BB962C8B-B14F-4D97-AF65-F5344CB8AC3E}">
        <p14:creationId xmlns:p14="http://schemas.microsoft.com/office/powerpoint/2010/main" val="240452778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 Id="rId13"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E749AA-DFC1-412B-8D1A-31ABB7D916F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9CA5D24-207D-F318-C215-A84F996DFE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CF0A67-ABB6-4314-7B8E-00F52B15C8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0901DB-E840-4150-8207-866BDD25D22F}" type="datetimeFigureOut">
              <a:rPr lang="en-US" smtClean="0"/>
              <a:t>10/7/2026</a:t>
            </a:fld>
            <a:endParaRPr lang="en-US"/>
          </a:p>
        </p:txBody>
      </p:sp>
      <p:sp>
        <p:nvSpPr>
          <p:cNvPr id="5" name="Footer Placeholder 4">
            <a:extLst>
              <a:ext uri="{FF2B5EF4-FFF2-40B4-BE49-F238E27FC236}">
                <a16:creationId xmlns:a16="http://schemas.microsoft.com/office/drawing/2014/main" id="{1A1418D7-FCBF-5B99-17E2-6C586E0722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5FCDC88-7F57-5757-67CB-EED58993590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41024BC-5968-4735-8D30-B72DEF6BE683}" type="slidenum">
              <a:rPr lang="en-US" smtClean="0"/>
              <a:t>‹#›</a:t>
            </a:fld>
            <a:endParaRPr lang="en-US"/>
          </a:p>
        </p:txBody>
      </p:sp>
    </p:spTree>
    <p:extLst>
      <p:ext uri="{BB962C8B-B14F-4D97-AF65-F5344CB8AC3E}">
        <p14:creationId xmlns:p14="http://schemas.microsoft.com/office/powerpoint/2010/main" val="30118941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a:xfrm>
            <a:off x="609600" y="274638"/>
            <a:ext cx="10972800" cy="1143000"/>
          </a:xfrm>
          <a:prstGeom prst="rect">
            <a:avLst/>
          </a:prstGeom>
          <a:noFill/>
          <a:ln w="9525">
            <a:noFill/>
          </a:ln>
        </p:spPr>
        <p:txBody>
          <a:bodyPr anchor="ctr" anchorCtr="0"/>
          <a:lstStyle/>
          <a:p>
            <a:pPr lvl="0"/>
            <a:r>
              <a:rPr lang="en-US" altLang="en-US" dirty="0"/>
              <a:t>Click to edit Master title style</a:t>
            </a:r>
          </a:p>
        </p:txBody>
      </p:sp>
      <p:sp>
        <p:nvSpPr>
          <p:cNvPr id="1027" name="Text Placeholder 2"/>
          <p:cNvSpPr>
            <a:spLocks noGrp="1"/>
          </p:cNvSpPr>
          <p:nvPr>
            <p:ph type="body"/>
          </p:nvPr>
        </p:nvSpPr>
        <p:spPr>
          <a:xfrm>
            <a:off x="609600" y="1600201"/>
            <a:ext cx="10972800" cy="4525963"/>
          </a:xfrm>
          <a:prstGeom prst="rect">
            <a:avLst/>
          </a:prstGeom>
          <a:noFill/>
          <a:ln w="9525">
            <a:noFill/>
          </a:ln>
        </p:spPr>
        <p:txBody>
          <a:bodyPr anchor="t" anchorCtr="0"/>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wrap="square" lIns="91440" tIns="45720" rIns="91440" bIns="45720" numCol="1" anchor="ctr" anchorCtr="0" compatLnSpc="1"/>
          <a:lstStyle>
            <a:lvl1pPr eaLnBrk="1" hangingPunct="1">
              <a:defRPr sz="1200">
                <a:solidFill>
                  <a:srgbClr val="898989"/>
                </a:solidFill>
              </a:defRPr>
            </a:lvl1pPr>
          </a:lstStyle>
          <a:p>
            <a:pPr fontAlgn="base">
              <a:spcBef>
                <a:spcPct val="0"/>
              </a:spcBef>
              <a:spcAft>
                <a:spcPct val="0"/>
              </a:spcAft>
              <a:defRPr/>
            </a:pPr>
            <a:fld id="{AE91B204-41D7-48AE-A13E-6E23B3D8CB2B}" type="datetime1">
              <a:rPr lang="en-US" smtClean="0">
                <a:ea typeface="MS PGothic" panose="020B0600070205080204" pitchFamily="34" charset="-128"/>
              </a:rPr>
              <a:pPr fontAlgn="base">
                <a:spcBef>
                  <a:spcPct val="0"/>
                </a:spcBef>
                <a:spcAft>
                  <a:spcPct val="0"/>
                </a:spcAft>
                <a:defRPr/>
              </a:pPr>
              <a:t>10/7/2026</a:t>
            </a:fld>
            <a:endParaRPr lang="en-US">
              <a:ea typeface="MS PGothic" panose="020B0600070205080204" pitchFamily="34" charset="-128"/>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cs typeface="+mn-cs"/>
              </a:defRPr>
            </a:lvl1pPr>
          </a:lstStyle>
          <a:p>
            <a:pPr>
              <a:defRPr/>
            </a:pPr>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lstStyle>
            <a:lvl1pPr algn="r" eaLnBrk="1" hangingPunct="1">
              <a:defRPr sz="1200">
                <a:solidFill>
                  <a:srgbClr val="898989"/>
                </a:solidFill>
              </a:defRPr>
            </a:lvl1pPr>
          </a:lstStyle>
          <a:p>
            <a:pPr fontAlgn="base">
              <a:spcBef>
                <a:spcPct val="0"/>
              </a:spcBef>
              <a:spcAft>
                <a:spcPct val="0"/>
              </a:spcAft>
              <a:defRPr/>
            </a:pPr>
            <a:fld id="{B724CBE9-E6DE-4AAC-8453-7697DD7A6035}" type="slidenum">
              <a:rPr lang="en-US" altLang="en-US" smtClean="0">
                <a:ea typeface="MS PGothic" panose="020B0600070205080204" pitchFamily="34" charset="-128"/>
              </a:rPr>
              <a:pPr fontAlgn="base">
                <a:spcBef>
                  <a:spcPct val="0"/>
                </a:spcBef>
                <a:spcAft>
                  <a:spcPct val="0"/>
                </a:spcAft>
                <a:defRPr/>
              </a:pPr>
              <a:t>‹#›</a:t>
            </a:fld>
            <a:endParaRPr lang="en-US" altLang="en-US">
              <a:ea typeface="MS PGothic" panose="020B0600070205080204" pitchFamily="34" charset="-128"/>
            </a:endParaRPr>
          </a:p>
        </p:txBody>
      </p:sp>
    </p:spTree>
    <p:extLst>
      <p:ext uri="{BB962C8B-B14F-4D97-AF65-F5344CB8AC3E}">
        <p14:creationId xmlns:p14="http://schemas.microsoft.com/office/powerpoint/2010/main" val="42955182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p:txStyles>
    <p:titleStyle>
      <a:lvl1pPr algn="ctr" rtl="0" eaLnBrk="0" fontAlgn="base" hangingPunct="0">
        <a:spcBef>
          <a:spcPct val="0"/>
        </a:spcBef>
        <a:spcAft>
          <a:spcPct val="0"/>
        </a:spcAft>
        <a:defRPr sz="4400" kern="1200">
          <a:solidFill>
            <a:schemeClr val="tx1"/>
          </a:solidFill>
          <a:latin typeface="+mj-lt"/>
          <a:ea typeface="MS PGothic" panose="020B0600070205080204" pitchFamily="34" charset="-128"/>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defRPr>
      </a:lvl2pPr>
      <a:lvl3pPr algn="ctr"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defRPr>
      </a:lvl3pPr>
      <a:lvl4pPr algn="ctr"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defRPr>
      </a:lvl4pPr>
      <a:lvl5pPr algn="ctr"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pitchFamily="34" charset="-128"/>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S PGothic" panose="020B0600070205080204" pitchFamily="34" charset="-128"/>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pitchFamily="34" charset="-128"/>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34" charset="-128"/>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34" charset="-128"/>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0">
          <a:blip r:embed="rId3"/>
          <a:stretch>
            <a:fillRect/>
          </a:stretch>
        </a:blipFill>
        <a:effectLst/>
      </p:bgPr>
    </p:bg>
    <p:spTree>
      <p:nvGrpSpPr>
        <p:cNvPr id="1" name=""/>
        <p:cNvGrpSpPr/>
        <p:nvPr/>
      </p:nvGrpSpPr>
      <p:grpSpPr>
        <a:xfrm>
          <a:off x="0" y="0"/>
          <a:ext cx="0" cy="0"/>
          <a:chOff x="0" y="0"/>
          <a:chExt cx="0" cy="0"/>
        </a:xfrm>
      </p:grpSpPr>
      <p:sp>
        <p:nvSpPr>
          <p:cNvPr id="3074" name="Title 1"/>
          <p:cNvSpPr>
            <a:spLocks noGrp="1"/>
          </p:cNvSpPr>
          <p:nvPr>
            <p:ph type="ctrTitle"/>
          </p:nvPr>
        </p:nvSpPr>
        <p:spPr>
          <a:xfrm>
            <a:off x="2209800" y="152399"/>
            <a:ext cx="7772400" cy="889819"/>
          </a:xfrm>
        </p:spPr>
        <p:txBody>
          <a:bodyPr vert="horz" wrap="square" lIns="91440" tIns="45720" rIns="91440" bIns="45720" anchor="ctr" anchorCtr="0"/>
          <a:lstStyle/>
          <a:p>
            <a:pPr>
              <a:defRPr sz="2200" b="1">
                <a:solidFill>
                  <a:srgbClr val="003366"/>
                </a:solidFill>
                <a:latin typeface="Arial"/>
              </a:defRPr>
            </a:pPr>
            <a:r>
              <a:t>FINAL YEAR PROJECT PRESENTATION &amp; DEMO</a:t>
            </a:r>
          </a:p>
        </p:txBody>
      </p:sp>
      <p:sp>
        <p:nvSpPr>
          <p:cNvPr id="3075" name="Subtitle 2"/>
          <p:cNvSpPr>
            <a:spLocks noGrp="1"/>
          </p:cNvSpPr>
          <p:nvPr>
            <p:ph type="subTitle" idx="1"/>
          </p:nvPr>
        </p:nvSpPr>
        <p:spPr>
          <a:xfrm>
            <a:off x="1602658" y="1182329"/>
            <a:ext cx="8738419" cy="3891116"/>
          </a:xfrm>
        </p:spPr>
        <p:txBody>
          <a:bodyPr vert="horz" wrap="square" lIns="91440" tIns="45720" rIns="91440" bIns="45720" anchor="t" anchorCtr="0"/>
          <a:lstStyle/>
          <a:p>
            <a:pPr>
              <a:defRPr sz="1700" b="1">
                <a:solidFill>
                  <a:srgbClr val="006089"/>
                </a:solidFill>
                <a:latin typeface="Arial"/>
              </a:defRPr>
            </a:pPr>
            <a:r>
              <a:t>WINGRID: An Intelligent Multi-Window Presentation Orchestration &amp; Live Projection System</a:t>
            </a:r>
            <a:br/>
          </a:p>
          <a:p>
            <a:pPr>
              <a:defRPr sz="1200">
                <a:solidFill>
                  <a:srgbClr val="3C3C3C"/>
                </a:solidFill>
                <a:latin typeface="Arial"/>
              </a:defRPr>
            </a:pPr>
            <a:r>
              <a:t>Presented by: [Student Name]  |  Student ID: [Student ID]</a:t>
            </a:r>
            <a:br/>
            <a:r>
              <a:t>Supervisor: [Supervisor Name]</a:t>
            </a:r>
            <a:br/>
            <a:r>
              <a:t>Department of Computer Science, University of Ghana</a:t>
            </a:r>
            <a:br/>
            <a:r>
              <a:t>October 2026</a:t>
            </a:r>
          </a:p>
        </p:txBody>
      </p:sp>
      <p:sp>
        <p:nvSpPr>
          <p:cNvPr id="2" name="Date Placeholder 1"/>
          <p:cNvSpPr>
            <a:spLocks noGrp="1"/>
          </p:cNvSpPr>
          <p:nvPr>
            <p:ph type="dt" sz="half" idx="10"/>
          </p:nvPr>
        </p:nvSpPr>
        <p:spPr/>
        <p:txBody>
          <a:bodyPr/>
          <a:lstStyle/>
          <a:p>
            <a:pPr fontAlgn="base">
              <a:spcBef>
                <a:spcPct val="0"/>
              </a:spcBef>
              <a:spcAft>
                <a:spcPct val="0"/>
              </a:spcAft>
              <a:defRPr/>
            </a:pPr>
            <a:fld id="{CBB6B13C-08B2-4F48-BEC8-EC2633766FDF}" type="datetime1">
              <a:rPr lang="en-US">
                <a:latin typeface="Calibri" panose="020F0502020204030204" pitchFamily="34" charset="0"/>
                <a:ea typeface="MS PGothic" panose="020B0600070205080204" pitchFamily="34" charset="-128"/>
              </a:rPr>
              <a:pPr fontAlgn="base">
                <a:spcBef>
                  <a:spcPct val="0"/>
                </a:spcBef>
                <a:spcAft>
                  <a:spcPct val="0"/>
                </a:spcAft>
                <a:defRPr/>
              </a:pPr>
              <a:t>10/7/2026</a:t>
            </a:fld>
            <a:endParaRPr lang="en-US">
              <a:latin typeface="Calibri" panose="020F0502020204030204" pitchFamily="34" charset="0"/>
              <a:ea typeface="MS PGothic" panose="020B0600070205080204" pitchFamily="34" charset="-128"/>
            </a:endParaRPr>
          </a:p>
        </p:txBody>
      </p:sp>
      <p:sp>
        <p:nvSpPr>
          <p:cNvPr id="4" name="Slide Number Placeholder 3"/>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a:latin typeface="Calibri" panose="020F0502020204030204" pitchFamily="34" charset="0"/>
                <a:ea typeface="MS PGothic" panose="020B0600070205080204" pitchFamily="34" charset="-128"/>
              </a:rPr>
              <a:pPr fontAlgn="base">
                <a:spcBef>
                  <a:spcPct val="0"/>
                </a:spcBef>
                <a:spcAft>
                  <a:spcPct val="0"/>
                </a:spcAft>
                <a:defRPr/>
              </a:pPr>
              <a:t>1</a:t>
            </a:fld>
            <a:endParaRPr lang="en-US" altLang="en-US" dirty="0">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5881579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2100" b="1">
                <a:solidFill>
                  <a:srgbClr val="003366"/>
                </a:solidFill>
                <a:latin typeface="Arial"/>
              </a:defRPr>
            </a:pPr>
            <a:r>
              <a:t>Outline of Presentation</a:t>
            </a:r>
          </a:p>
        </p:txBody>
      </p:sp>
      <p:sp>
        <p:nvSpPr>
          <p:cNvPr id="3" name="Content Placeholder 2"/>
          <p:cNvSpPr>
            <a:spLocks noGrp="1"/>
          </p:cNvSpPr>
          <p:nvPr>
            <p:ph idx="1"/>
          </p:nvPr>
        </p:nvSpPr>
        <p:spPr>
          <a:xfrm>
            <a:off x="609600" y="2057399"/>
            <a:ext cx="10972800" cy="4525963"/>
          </a:xfrm>
        </p:spPr>
        <p:txBody>
          <a:bodyPr wrap="square"/>
          <a:lstStyle/>
          <a:p>
            <a:pPr>
              <a:spcAft>
                <a:spcPts val="300"/>
              </a:spcAft>
              <a:defRPr sz="1250">
                <a:solidFill>
                  <a:srgbClr val="2D2D2D"/>
                </a:solidFill>
                <a:latin typeface="Arial"/>
              </a:defRPr>
            </a:pPr>
            <a:r>
              <a:t>1. Motivation: Why Modern Live Presentations Struggle</a:t>
            </a:r>
          </a:p>
          <a:p>
            <a:pPr>
              <a:spcAft>
                <a:spcPts val="300"/>
              </a:spcAft>
              <a:defRPr sz="1250">
                <a:solidFill>
                  <a:srgbClr val="2D2D2D"/>
                </a:solidFill>
                <a:latin typeface="Arial"/>
              </a:defRPr>
            </a:pPr>
            <a:r>
              <a:t>2. Problem Statement: The 4 Core Presentation Headaches</a:t>
            </a:r>
          </a:p>
          <a:p>
            <a:pPr>
              <a:spcAft>
                <a:spcPts val="300"/>
              </a:spcAft>
              <a:defRPr sz="1250">
                <a:solidFill>
                  <a:srgbClr val="2D2D2D"/>
                </a:solidFill>
                <a:latin typeface="Arial"/>
              </a:defRPr>
            </a:pPr>
            <a:r>
              <a:t>3. Research Aim and Specific Objectives</a:t>
            </a:r>
          </a:p>
          <a:p>
            <a:pPr>
              <a:spcAft>
                <a:spcPts val="300"/>
              </a:spcAft>
              <a:defRPr sz="1250">
                <a:solidFill>
                  <a:srgbClr val="2D2D2D"/>
                </a:solidFill>
                <a:latin typeface="Arial"/>
              </a:defRPr>
            </a:pPr>
            <a:r>
              <a:t>4. Competitive Analysis: Why Existing Tools Fall Short</a:t>
            </a:r>
          </a:p>
          <a:p>
            <a:pPr>
              <a:spcAft>
                <a:spcPts val="300"/>
              </a:spcAft>
              <a:defRPr sz="1250">
                <a:solidFill>
                  <a:srgbClr val="2D2D2D"/>
                </a:solidFill>
                <a:latin typeface="Arial"/>
              </a:defRPr>
            </a:pPr>
            <a:r>
              <a:t>5. Proposed Solution: The 'Two Windows, One Operator' Design</a:t>
            </a:r>
          </a:p>
          <a:p>
            <a:pPr>
              <a:spcAft>
                <a:spcPts val="300"/>
              </a:spcAft>
              <a:defRPr sz="1250">
                <a:solidFill>
                  <a:srgbClr val="2D2D2D"/>
                </a:solidFill>
                <a:latin typeface="Arial"/>
              </a:defRPr>
            </a:pPr>
            <a:r>
              <a:t>6. Key System Capabilities &amp; Real-Time AI Context Assistant</a:t>
            </a:r>
          </a:p>
          <a:p>
            <a:pPr>
              <a:spcAft>
                <a:spcPts val="300"/>
              </a:spcAft>
              <a:defRPr sz="1250">
                <a:solidFill>
                  <a:srgbClr val="2D2D2D"/>
                </a:solidFill>
                <a:latin typeface="Arial"/>
              </a:defRPr>
            </a:pPr>
            <a:r>
              <a:t>7. Live System Demonstration &amp; Workflow Verification</a:t>
            </a:r>
          </a:p>
          <a:p>
            <a:pPr>
              <a:spcAft>
                <a:spcPts val="300"/>
              </a:spcAft>
              <a:defRPr sz="1250">
                <a:solidFill>
                  <a:srgbClr val="2D2D2D"/>
                </a:solidFill>
                <a:latin typeface="Arial"/>
              </a:defRPr>
            </a:pPr>
            <a:r>
              <a:t>8. Summary of Contributions, Conclusion &amp; Future Scope</a:t>
            </a:r>
          </a:p>
        </p:txBody>
      </p:sp>
      <p:sp>
        <p:nvSpPr>
          <p:cNvPr id="4" name="Date Placeholder 3"/>
          <p:cNvSpPr>
            <a:spLocks noGrp="1"/>
          </p:cNvSpPr>
          <p:nvPr>
            <p:ph type="dt" sz="half" idx="10"/>
          </p:nvPr>
        </p:nvSpPr>
        <p:spPr/>
        <p:txBody>
          <a:bodyPr/>
          <a:lstStyle/>
          <a:p>
            <a:pPr fontAlgn="base">
              <a:spcBef>
                <a:spcPct val="0"/>
              </a:spcBef>
              <a:spcAft>
                <a:spcPct val="0"/>
              </a:spcAft>
              <a:defRPr/>
            </a:pPr>
            <a:fld id="{A9287898-D9AE-4049-9D19-ED0B1E1963CA}" type="datetime1">
              <a:rPr lang="en-US">
                <a:latin typeface="Calibri" panose="020F0502020204030204" pitchFamily="34" charset="0"/>
                <a:ea typeface="MS PGothic" panose="020B0600070205080204" pitchFamily="34" charset="-128"/>
              </a:rPr>
              <a:pPr fontAlgn="base">
                <a:spcBef>
                  <a:spcPct val="0"/>
                </a:spcBef>
                <a:spcAft>
                  <a:spcPct val="0"/>
                </a:spcAft>
                <a:defRPr/>
              </a:pPr>
              <a:t>10/7/2026</a:t>
            </a:fld>
            <a:endParaRPr lang="en-US">
              <a:latin typeface="Calibri" panose="020F0502020204030204" pitchFamily="34" charset="0"/>
              <a:ea typeface="MS PGothic" panose="020B0600070205080204" pitchFamily="34" charset="-128"/>
            </a:endParaRPr>
          </a:p>
        </p:txBody>
      </p:sp>
      <p:sp>
        <p:nvSpPr>
          <p:cNvPr id="5" name="Slide Number Placeholder 4"/>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a:latin typeface="Calibri" panose="020F0502020204030204" pitchFamily="34" charset="0"/>
                <a:ea typeface="MS PGothic" panose="020B0600070205080204" pitchFamily="34" charset="-128"/>
              </a:rPr>
              <a:pPr fontAlgn="base">
                <a:spcBef>
                  <a:spcPct val="0"/>
                </a:spcBef>
                <a:spcAft>
                  <a:spcPct val="0"/>
                </a:spcAft>
                <a:defRPr/>
              </a:pPr>
              <a:t>2</a:t>
            </a:fld>
            <a:endParaRPr lang="en-US" altLang="en-US">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932359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9DB1C-537E-FB1F-4362-7D3C0F60D207}"/>
              </a:ext>
            </a:extLst>
          </p:cNvPr>
          <p:cNvSpPr>
            <a:spLocks noGrp="1"/>
          </p:cNvSpPr>
          <p:nvPr>
            <p:ph type="title"/>
          </p:nvPr>
        </p:nvSpPr>
        <p:spPr/>
        <p:txBody>
          <a:bodyPr/>
          <a:lstStyle/>
          <a:p>
            <a:pPr>
              <a:defRPr sz="2100" b="1">
                <a:solidFill>
                  <a:srgbClr val="003366"/>
                </a:solidFill>
                <a:latin typeface="Arial"/>
              </a:defRPr>
            </a:pPr>
            <a:r>
              <a:t>Motivation &amp; Problem Statement</a:t>
            </a:r>
          </a:p>
        </p:txBody>
      </p:sp>
      <p:sp>
        <p:nvSpPr>
          <p:cNvPr id="3" name="Content Placeholder 2">
            <a:extLst>
              <a:ext uri="{FF2B5EF4-FFF2-40B4-BE49-F238E27FC236}">
                <a16:creationId xmlns:a16="http://schemas.microsoft.com/office/drawing/2014/main" id="{3A386C90-A221-580A-FFD5-6EB28AF3FB7E}"/>
              </a:ext>
            </a:extLst>
          </p:cNvPr>
          <p:cNvSpPr>
            <a:spLocks noGrp="1"/>
          </p:cNvSpPr>
          <p:nvPr>
            <p:ph idx="1"/>
          </p:nvPr>
        </p:nvSpPr>
        <p:spPr>
          <a:xfrm>
            <a:off x="609600" y="1619865"/>
            <a:ext cx="10972800" cy="4525963"/>
          </a:xfrm>
        </p:spPr>
        <p:txBody>
          <a:bodyPr wrap="square"/>
          <a:lstStyle/>
          <a:p>
            <a:pPr>
              <a:spcBef>
                <a:spcPts val="400"/>
              </a:spcBef>
              <a:spcAft>
                <a:spcPts val="200"/>
              </a:spcAft>
              <a:defRPr sz="1350" b="1">
                <a:solidFill>
                  <a:srgbClr val="005078"/>
                </a:solidFill>
                <a:latin typeface="Arial"/>
              </a:defRPr>
            </a:pPr>
            <a:r>
              <a:t>The Multi-Source Presentation Challenge</a:t>
            </a:r>
          </a:p>
          <a:p>
            <a:pPr lvl="1">
              <a:spcAft>
                <a:spcPts val="200"/>
              </a:spcAft>
              <a:defRPr sz="1150">
                <a:solidFill>
                  <a:srgbClr val="2D2D2D"/>
                </a:solidFill>
                <a:latin typeface="Arial"/>
              </a:defRPr>
            </a:pPr>
            <a:r>
              <a:t>Modern presenters (lecturers, speakers, tech leads, churches) no longer rely on static slides alone.</a:t>
            </a:r>
          </a:p>
          <a:p>
            <a:pPr lvl="1">
              <a:spcAft>
                <a:spcPts val="200"/>
              </a:spcAft>
              <a:defRPr sz="1150">
                <a:solidFill>
                  <a:srgbClr val="2D2D2D"/>
                </a:solidFill>
                <a:latin typeface="Arial"/>
              </a:defRPr>
            </a:pPr>
            <a:r>
              <a:t>They actively combine slides, live code, scriptures, web browsers, and countdown timers simultaneously.</a:t>
            </a:r>
          </a:p>
          <a:p>
            <a:pPr lvl="1">
              <a:spcAft>
                <a:spcPts val="200"/>
              </a:spcAft>
              <a:defRPr sz="1150">
                <a:solidFill>
                  <a:srgbClr val="2D2D2D"/>
                </a:solidFill>
                <a:latin typeface="Arial"/>
              </a:defRPr>
            </a:pPr>
            <a:r>
              <a:t>Existing tools (Zoom, Teams) only share one screen, while broadcast tools (OBS) are too complex for everyday users.</a:t>
            </a:r>
          </a:p>
          <a:p>
            <a:pPr>
              <a:spcBef>
                <a:spcPts val="400"/>
              </a:spcBef>
              <a:spcAft>
                <a:spcPts val="200"/>
              </a:spcAft>
              <a:defRPr sz="1350" b="1">
                <a:solidFill>
                  <a:srgbClr val="005078"/>
                </a:solidFill>
                <a:latin typeface="Arial"/>
              </a:defRPr>
            </a:pPr>
            <a:r>
              <a:t>The 4 Core Presentation Headaches</a:t>
            </a:r>
          </a:p>
          <a:p>
            <a:pPr lvl="1">
              <a:spcAft>
                <a:spcPts val="200"/>
              </a:spcAft>
              <a:defRPr sz="1150">
                <a:solidFill>
                  <a:srgbClr val="2D2D2D"/>
                </a:solidFill>
                <a:latin typeface="Arial"/>
              </a:defRPr>
            </a:pPr>
            <a:r>
              <a:t>1. Single-Source Lock: Inability to project multiple open windows side-by-side without messy manual resizing.</a:t>
            </a:r>
          </a:p>
          <a:p>
            <a:pPr lvl="1">
              <a:spcAft>
                <a:spcPts val="200"/>
              </a:spcAft>
              <a:defRPr sz="1150">
                <a:solidFill>
                  <a:srgbClr val="2D2D2D"/>
                </a:solidFill>
                <a:latin typeface="Arial"/>
              </a:defRPr>
            </a:pPr>
            <a:r>
              <a:t>2. Display Mode Conflicts: Repeatedly toggling Win+P (Duplicate vs. Extend) causes screen freezing, flickering, and delays.</a:t>
            </a:r>
          </a:p>
          <a:p>
            <a:pPr lvl="1">
              <a:spcAft>
                <a:spcPts val="200"/>
              </a:spcAft>
              <a:defRPr sz="1150">
                <a:solidFill>
                  <a:srgbClr val="2D2D2D"/>
                </a:solidFill>
                <a:latin typeface="Arial"/>
              </a:defRPr>
            </a:pPr>
            <a:r>
              <a:t>3. Privacy &amp; Desktop Exposure: Full-screen sharing accidentally exposes personal WhatsApp chats, emails, and private files to the audience.</a:t>
            </a:r>
          </a:p>
          <a:p>
            <a:pPr lvl="1">
              <a:spcAft>
                <a:spcPts val="200"/>
              </a:spcAft>
              <a:defRPr sz="1150">
                <a:solidFill>
                  <a:srgbClr val="2D2D2D"/>
                </a:solidFill>
                <a:latin typeface="Arial"/>
              </a:defRPr>
            </a:pPr>
            <a:r>
              <a:t>4. Manual Production Overhead: Showing live speaker titles, scriptures, or quotes requires extra crew or distracting manual typing.</a:t>
            </a:r>
          </a:p>
        </p:txBody>
      </p:sp>
      <p:sp>
        <p:nvSpPr>
          <p:cNvPr id="4" name="Date Placeholder 3">
            <a:extLst>
              <a:ext uri="{FF2B5EF4-FFF2-40B4-BE49-F238E27FC236}">
                <a16:creationId xmlns:a16="http://schemas.microsoft.com/office/drawing/2014/main" id="{8531FEBA-0B27-7CAB-D40C-DDFB5DF5ADB3}"/>
              </a:ext>
            </a:extLst>
          </p:cNvPr>
          <p:cNvSpPr>
            <a:spLocks noGrp="1"/>
          </p:cNvSpPr>
          <p:nvPr>
            <p:ph type="dt" sz="half" idx="10"/>
          </p:nvPr>
        </p:nvSpPr>
        <p:spPr/>
        <p:txBody>
          <a:bodyPr/>
          <a:lstStyle/>
          <a:p>
            <a:pPr fontAlgn="base">
              <a:spcBef>
                <a:spcPct val="0"/>
              </a:spcBef>
              <a:spcAft>
                <a:spcPct val="0"/>
              </a:spcAft>
              <a:defRPr/>
            </a:pPr>
            <a:fld id="{A9287898-D9AE-4049-9D19-ED0B1E1963CA}" type="datetime1">
              <a:rPr lang="en-US" smtClean="0">
                <a:ea typeface="MS PGothic" panose="020B0600070205080204" pitchFamily="34" charset="-128"/>
              </a:rPr>
              <a:pPr fontAlgn="base">
                <a:spcBef>
                  <a:spcPct val="0"/>
                </a:spcBef>
                <a:spcAft>
                  <a:spcPct val="0"/>
                </a:spcAft>
                <a:defRPr/>
              </a:pPr>
              <a:t>10/7/2026</a:t>
            </a:fld>
            <a:endParaRPr lang="en-US">
              <a:ea typeface="MS PGothic" panose="020B0600070205080204" pitchFamily="34" charset="-128"/>
            </a:endParaRPr>
          </a:p>
        </p:txBody>
      </p:sp>
      <p:sp>
        <p:nvSpPr>
          <p:cNvPr id="5" name="Slide Number Placeholder 4">
            <a:extLst>
              <a:ext uri="{FF2B5EF4-FFF2-40B4-BE49-F238E27FC236}">
                <a16:creationId xmlns:a16="http://schemas.microsoft.com/office/drawing/2014/main" id="{735FE2F2-16C4-3CA6-A52D-9A30616C3AE5}"/>
              </a:ext>
            </a:extLst>
          </p:cNvPr>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smtClean="0">
                <a:ea typeface="MS PGothic" panose="020B0600070205080204" pitchFamily="34" charset="-128"/>
              </a:rPr>
              <a:pPr fontAlgn="base">
                <a:spcBef>
                  <a:spcPct val="0"/>
                </a:spcBef>
                <a:spcAft>
                  <a:spcPct val="0"/>
                </a:spcAft>
                <a:defRPr/>
              </a:pPr>
              <a:t>3</a:t>
            </a:fld>
            <a:endParaRPr lang="en-US" altLang="en-US">
              <a:ea typeface="MS PGothic" panose="020B0600070205080204" pitchFamily="34" charset="-128"/>
            </a:endParaRPr>
          </a:p>
        </p:txBody>
      </p:sp>
    </p:spTree>
    <p:extLst>
      <p:ext uri="{BB962C8B-B14F-4D97-AF65-F5344CB8AC3E}">
        <p14:creationId xmlns:p14="http://schemas.microsoft.com/office/powerpoint/2010/main" val="18961159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B2738-68AC-4D51-568D-D524A0A661F8}"/>
              </a:ext>
            </a:extLst>
          </p:cNvPr>
          <p:cNvSpPr>
            <a:spLocks noGrp="1"/>
          </p:cNvSpPr>
          <p:nvPr>
            <p:ph type="title"/>
          </p:nvPr>
        </p:nvSpPr>
        <p:spPr/>
        <p:txBody>
          <a:bodyPr/>
          <a:lstStyle/>
          <a:p>
            <a:pPr>
              <a:defRPr sz="2100" b="1">
                <a:solidFill>
                  <a:srgbClr val="003366"/>
                </a:solidFill>
                <a:latin typeface="Arial"/>
              </a:defRPr>
            </a:pPr>
            <a:r>
              <a:t>Research Aim and Specific Objectives</a:t>
            </a:r>
          </a:p>
        </p:txBody>
      </p:sp>
      <p:sp>
        <p:nvSpPr>
          <p:cNvPr id="3" name="Content Placeholder 2">
            <a:extLst>
              <a:ext uri="{FF2B5EF4-FFF2-40B4-BE49-F238E27FC236}">
                <a16:creationId xmlns:a16="http://schemas.microsoft.com/office/drawing/2014/main" id="{6DEFCC0B-C1AE-0B6A-2192-DD51A8EE47B9}"/>
              </a:ext>
            </a:extLst>
          </p:cNvPr>
          <p:cNvSpPr>
            <a:spLocks noGrp="1"/>
          </p:cNvSpPr>
          <p:nvPr>
            <p:ph idx="1"/>
          </p:nvPr>
        </p:nvSpPr>
        <p:spPr>
          <a:xfrm>
            <a:off x="116958" y="1617134"/>
            <a:ext cx="11855302" cy="4847461"/>
          </a:xfrm>
        </p:spPr>
        <p:txBody>
          <a:bodyPr wrap="square"/>
          <a:lstStyle/>
          <a:p>
            <a:pPr>
              <a:spcBef>
                <a:spcPts val="400"/>
              </a:spcBef>
              <a:spcAft>
                <a:spcPts val="200"/>
              </a:spcAft>
              <a:defRPr sz="1350" b="1">
                <a:solidFill>
                  <a:srgbClr val="005078"/>
                </a:solidFill>
                <a:latin typeface="Arial"/>
              </a:defRPr>
            </a:pPr>
            <a:r>
              <a:t>Primary Aim</a:t>
            </a:r>
          </a:p>
          <a:p>
            <a:pPr lvl="1">
              <a:spcAft>
                <a:spcPts val="200"/>
              </a:spcAft>
              <a:defRPr sz="1150">
                <a:solidFill>
                  <a:srgbClr val="2D2D2D"/>
                </a:solidFill>
                <a:latin typeface="Arial"/>
              </a:defRPr>
            </a:pPr>
            <a:r>
              <a:t>To build a fast, intuitive desktop system that makes live presentations more professional and significantly smarter by eliminating display bottlenecks and introducing a real-time AI assistant for instant context projection.</a:t>
            </a:r>
          </a:p>
          <a:p>
            <a:pPr>
              <a:spcBef>
                <a:spcPts val="400"/>
              </a:spcBef>
              <a:spcAft>
                <a:spcPts val="200"/>
              </a:spcAft>
              <a:defRPr sz="1350" b="1">
                <a:solidFill>
                  <a:srgbClr val="005078"/>
                </a:solidFill>
                <a:latin typeface="Arial"/>
              </a:defRPr>
            </a:pPr>
            <a:r>
              <a:t>Specific Objectives</a:t>
            </a:r>
          </a:p>
          <a:p>
            <a:pPr lvl="1">
              <a:spcAft>
                <a:spcPts val="200"/>
              </a:spcAft>
              <a:defRPr sz="1150">
                <a:solidFill>
                  <a:srgbClr val="2D2D2D"/>
                </a:solidFill>
                <a:latin typeface="Arial"/>
              </a:defRPr>
            </a:pPr>
            <a:r>
              <a:t>1. High-Speed Capture Engine: Build a smooth, GPU-accelerated window capture pipeline (solid 60 FPS with minimal laptop CPU usage).</a:t>
            </a:r>
          </a:p>
          <a:p>
            <a:pPr lvl="1">
              <a:spcAft>
                <a:spcPts val="200"/>
              </a:spcAft>
              <a:defRPr sz="1150">
                <a:solidFill>
                  <a:srgbClr val="2D2D2D"/>
                </a:solidFill>
                <a:latin typeface="Arial"/>
              </a:defRPr>
            </a:pPr>
            <a:r>
              <a:t>2. 'Two Windows, One Operator' Model: Separate the private presenter control dashboard from the clean audience projection screen.</a:t>
            </a:r>
          </a:p>
          <a:p>
            <a:pPr lvl="1">
              <a:spcAft>
                <a:spcPts val="200"/>
              </a:spcAft>
              <a:defRPr sz="1150">
                <a:solidFill>
                  <a:srgbClr val="2D2D2D"/>
                </a:solidFill>
                <a:latin typeface="Arial"/>
              </a:defRPr>
            </a:pPr>
            <a:r>
              <a:t>3. Real-Time AI Assistant: Implement speech-to-context AI that listens live and auto-generates scripture cards, quotes, and titles in ~200ms.</a:t>
            </a:r>
          </a:p>
          <a:p>
            <a:pPr lvl="1">
              <a:spcAft>
                <a:spcPts val="200"/>
              </a:spcAft>
              <a:defRPr sz="1150">
                <a:solidFill>
                  <a:srgbClr val="2D2D2D"/>
                </a:solidFill>
                <a:latin typeface="Arial"/>
              </a:defRPr>
            </a:pPr>
            <a:r>
              <a:t>4. Wireless Local Collaboration: Enable direct peer-to-peer screen streaming over local Wi-Fi without needing internet access.</a:t>
            </a:r>
          </a:p>
          <a:p>
            <a:pPr lvl="1">
              <a:spcAft>
                <a:spcPts val="200"/>
              </a:spcAft>
              <a:defRPr sz="1150">
                <a:solidFill>
                  <a:srgbClr val="2D2D2D"/>
                </a:solidFill>
                <a:latin typeface="Arial"/>
              </a:defRPr>
            </a:pPr>
            <a:r>
              <a:t>5. Secure System Credentials: Protect stored user settings and API credentials safely on the local device.</a:t>
            </a:r>
          </a:p>
        </p:txBody>
      </p:sp>
      <p:sp>
        <p:nvSpPr>
          <p:cNvPr id="4" name="Date Placeholder 3">
            <a:extLst>
              <a:ext uri="{FF2B5EF4-FFF2-40B4-BE49-F238E27FC236}">
                <a16:creationId xmlns:a16="http://schemas.microsoft.com/office/drawing/2014/main" id="{1B823B23-738E-64E3-FFD2-6DC756DE6D84}"/>
              </a:ext>
            </a:extLst>
          </p:cNvPr>
          <p:cNvSpPr>
            <a:spLocks noGrp="1"/>
          </p:cNvSpPr>
          <p:nvPr>
            <p:ph type="dt" sz="half" idx="10"/>
          </p:nvPr>
        </p:nvSpPr>
        <p:spPr/>
        <p:txBody>
          <a:bodyPr/>
          <a:lstStyle/>
          <a:p>
            <a:pPr fontAlgn="base">
              <a:spcBef>
                <a:spcPct val="0"/>
              </a:spcBef>
              <a:spcAft>
                <a:spcPct val="0"/>
              </a:spcAft>
              <a:defRPr/>
            </a:pPr>
            <a:fld id="{A9287898-D9AE-4049-9D19-ED0B1E1963CA}" type="datetime1">
              <a:rPr lang="en-US" smtClean="0">
                <a:ea typeface="MS PGothic" panose="020B0600070205080204" pitchFamily="34" charset="-128"/>
              </a:rPr>
              <a:pPr fontAlgn="base">
                <a:spcBef>
                  <a:spcPct val="0"/>
                </a:spcBef>
                <a:spcAft>
                  <a:spcPct val="0"/>
                </a:spcAft>
                <a:defRPr/>
              </a:pPr>
              <a:t>10/7/2026</a:t>
            </a:fld>
            <a:endParaRPr lang="en-US">
              <a:ea typeface="MS PGothic" panose="020B0600070205080204" pitchFamily="34" charset="-128"/>
            </a:endParaRPr>
          </a:p>
        </p:txBody>
      </p:sp>
      <p:sp>
        <p:nvSpPr>
          <p:cNvPr id="5" name="Slide Number Placeholder 4">
            <a:extLst>
              <a:ext uri="{FF2B5EF4-FFF2-40B4-BE49-F238E27FC236}">
                <a16:creationId xmlns:a16="http://schemas.microsoft.com/office/drawing/2014/main" id="{A12BA517-DF9E-BB84-BEC3-8B2D35D700A7}"/>
              </a:ext>
            </a:extLst>
          </p:cNvPr>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smtClean="0">
                <a:ea typeface="MS PGothic" panose="020B0600070205080204" pitchFamily="34" charset="-128"/>
              </a:rPr>
              <a:pPr fontAlgn="base">
                <a:spcBef>
                  <a:spcPct val="0"/>
                </a:spcBef>
                <a:spcAft>
                  <a:spcPct val="0"/>
                </a:spcAft>
                <a:defRPr/>
              </a:pPr>
              <a:t>4</a:t>
            </a:fld>
            <a:endParaRPr lang="en-US" altLang="en-US">
              <a:ea typeface="MS PGothic" panose="020B0600070205080204" pitchFamily="34" charset="-128"/>
            </a:endParaRPr>
          </a:p>
        </p:txBody>
      </p:sp>
    </p:spTree>
    <p:extLst>
      <p:ext uri="{BB962C8B-B14F-4D97-AF65-F5344CB8AC3E}">
        <p14:creationId xmlns:p14="http://schemas.microsoft.com/office/powerpoint/2010/main" val="23017769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5A31B-99F0-32CD-42FA-EA92C81A3224}"/>
              </a:ext>
            </a:extLst>
          </p:cNvPr>
          <p:cNvSpPr>
            <a:spLocks noGrp="1"/>
          </p:cNvSpPr>
          <p:nvPr>
            <p:ph type="title"/>
          </p:nvPr>
        </p:nvSpPr>
        <p:spPr/>
        <p:txBody>
          <a:bodyPr/>
          <a:lstStyle/>
          <a:p>
            <a:pPr>
              <a:defRPr sz="2100" b="1">
                <a:solidFill>
                  <a:srgbClr val="003366"/>
                </a:solidFill>
                <a:latin typeface="Arial"/>
              </a:defRPr>
            </a:pPr>
            <a:r>
              <a:t>Competitive Analysis: Why Existing Tools Fall Short</a:t>
            </a:r>
          </a:p>
        </p:txBody>
      </p:sp>
      <p:sp>
        <p:nvSpPr>
          <p:cNvPr id="3" name="Content Placeholder 2">
            <a:extLst>
              <a:ext uri="{FF2B5EF4-FFF2-40B4-BE49-F238E27FC236}">
                <a16:creationId xmlns:a16="http://schemas.microsoft.com/office/drawing/2014/main" id="{9DF2A7B9-9577-A5DF-84DE-6D64DB05A797}"/>
              </a:ext>
            </a:extLst>
          </p:cNvPr>
          <p:cNvSpPr>
            <a:spLocks noGrp="1"/>
          </p:cNvSpPr>
          <p:nvPr>
            <p:ph idx="1"/>
          </p:nvPr>
        </p:nvSpPr>
        <p:spPr>
          <a:xfrm>
            <a:off x="127591" y="1600201"/>
            <a:ext cx="11876567" cy="4525963"/>
          </a:xfrm>
        </p:spPr>
        <p:txBody>
          <a:bodyPr wrap="square"/>
          <a:lstStyle/>
          <a:p>
            <a:pPr>
              <a:spcBef>
                <a:spcPts val="400"/>
              </a:spcBef>
              <a:spcAft>
                <a:spcPts val="200"/>
              </a:spcAft>
              <a:defRPr sz="1350" b="1">
                <a:solidFill>
                  <a:srgbClr val="005078"/>
                </a:solidFill>
                <a:latin typeface="Arial"/>
              </a:defRPr>
            </a:pPr>
            <a:r>
              <a:t>Where Current Alternatives Fall Short</a:t>
            </a:r>
          </a:p>
          <a:p>
            <a:pPr lvl="1">
              <a:spcAft>
                <a:spcPts val="200"/>
              </a:spcAft>
              <a:defRPr sz="1150">
                <a:solidFill>
                  <a:srgbClr val="2D2D2D"/>
                </a:solidFill>
                <a:latin typeface="Arial"/>
              </a:defRPr>
            </a:pPr>
            <a:r>
              <a:t>Zoom / Teams / Meet: Only shares 1 window at a time; cannot route clean video to a physical projector; risks privacy leakage.</a:t>
            </a:r>
          </a:p>
          <a:p>
            <a:pPr lvl="1">
              <a:spcAft>
                <a:spcPts val="200"/>
              </a:spcAft>
              <a:defRPr sz="1150">
                <a:solidFill>
                  <a:srgbClr val="2D2D2D"/>
                </a:solidFill>
                <a:latin typeface="Arial"/>
              </a:defRPr>
            </a:pPr>
            <a:r>
              <a:t>OBS Studio / vMix: Steep learning curve; drains battery and laptop CPU; requires manual scene engineering; no built-in speech AI.</a:t>
            </a:r>
          </a:p>
          <a:p>
            <a:pPr lvl="1">
              <a:spcAft>
                <a:spcPts val="200"/>
              </a:spcAft>
              <a:defRPr sz="1150">
                <a:solidFill>
                  <a:srgbClr val="2D2D2D"/>
                </a:solidFill>
                <a:latin typeface="Arial"/>
              </a:defRPr>
            </a:pPr>
            <a:r>
              <a:t>ProPresenter / EasyWorship: Very expensive ($400-$1,000+); rigid slide-centric design is clunky for showing live external apps.</a:t>
            </a:r>
          </a:p>
          <a:p>
            <a:pPr lvl="1">
              <a:spcAft>
                <a:spcPts val="200"/>
              </a:spcAft>
              <a:defRPr sz="1150">
                <a:solidFill>
                  <a:srgbClr val="2D2D2D"/>
                </a:solidFill>
                <a:latin typeface="Arial"/>
              </a:defRPr>
            </a:pPr>
            <a:r>
              <a:t>Windows Snap / FancyZones: Confined to a single monitor; keeps messy titlebars and taskbars visible to the audience.</a:t>
            </a:r>
          </a:p>
          <a:p>
            <a:pPr>
              <a:spcBef>
                <a:spcPts val="400"/>
              </a:spcBef>
              <a:spcAft>
                <a:spcPts val="200"/>
              </a:spcAft>
              <a:defRPr sz="1350" b="1">
                <a:solidFill>
                  <a:srgbClr val="005078"/>
                </a:solidFill>
                <a:latin typeface="Arial"/>
              </a:defRPr>
            </a:pPr>
            <a:r>
              <a:t>Wingrid's Distinct Advantage</a:t>
            </a:r>
          </a:p>
          <a:p>
            <a:pPr lvl="1">
              <a:spcAft>
                <a:spcPts val="200"/>
              </a:spcAft>
              <a:defRPr sz="1150">
                <a:solidFill>
                  <a:srgbClr val="2D2D2D"/>
                </a:solidFill>
                <a:latin typeface="Arial"/>
              </a:defRPr>
            </a:pPr>
            <a:r>
              <a:t>1-Click Multi-Window Grids: Instant side-by-side splits (Single, Dual, Triple, Quad) with per-window Hide/Show toggles.</a:t>
            </a:r>
          </a:p>
          <a:p>
            <a:pPr lvl="1">
              <a:spcAft>
                <a:spcPts val="200"/>
              </a:spcAft>
              <a:defRPr sz="1150">
                <a:solidFill>
                  <a:srgbClr val="2D2D2D"/>
                </a:solidFill>
                <a:latin typeface="Arial"/>
              </a:defRPr>
            </a:pPr>
            <a:r>
              <a:t>Strict Zero-Desktop Isolation: Projects only clean app content—never your desktop background, taskbar, or popups.</a:t>
            </a:r>
          </a:p>
          <a:p>
            <a:pPr lvl="1">
              <a:spcAft>
                <a:spcPts val="200"/>
              </a:spcAft>
              <a:defRPr sz="1150">
                <a:solidFill>
                  <a:srgbClr val="2D2D2D"/>
                </a:solidFill>
                <a:latin typeface="Arial"/>
              </a:defRPr>
            </a:pPr>
            <a:r>
              <a:t>Zero-Effort AI Assistance: Listens to the speaker and prepares broadcast-ready summary cards automatically.</a:t>
            </a:r>
          </a:p>
          <a:p>
            <a:pPr lvl="1">
              <a:spcAft>
                <a:spcPts val="200"/>
              </a:spcAft>
              <a:defRPr sz="1150">
                <a:solidFill>
                  <a:srgbClr val="2D2D2D"/>
                </a:solidFill>
                <a:latin typeface="Arial"/>
              </a:defRPr>
            </a:pPr>
            <a:r>
              <a:t>100% Local Reliability: Operates smoothly on local hardware without depending on cloud servers for live projection.</a:t>
            </a:r>
          </a:p>
        </p:txBody>
      </p:sp>
      <p:sp>
        <p:nvSpPr>
          <p:cNvPr id="4" name="Date Placeholder 3">
            <a:extLst>
              <a:ext uri="{FF2B5EF4-FFF2-40B4-BE49-F238E27FC236}">
                <a16:creationId xmlns:a16="http://schemas.microsoft.com/office/drawing/2014/main" id="{5CAA1B5D-12F2-D542-90C1-8F260A0B4D48}"/>
              </a:ext>
            </a:extLst>
          </p:cNvPr>
          <p:cNvSpPr>
            <a:spLocks noGrp="1"/>
          </p:cNvSpPr>
          <p:nvPr>
            <p:ph type="dt" sz="half" idx="10"/>
          </p:nvPr>
        </p:nvSpPr>
        <p:spPr/>
        <p:txBody>
          <a:bodyPr/>
          <a:lstStyle/>
          <a:p>
            <a:pPr fontAlgn="base">
              <a:spcBef>
                <a:spcPct val="0"/>
              </a:spcBef>
              <a:spcAft>
                <a:spcPct val="0"/>
              </a:spcAft>
              <a:defRPr/>
            </a:pPr>
            <a:fld id="{A9287898-D9AE-4049-9D19-ED0B1E1963CA}" type="datetime1">
              <a:rPr lang="en-US" smtClean="0">
                <a:ea typeface="MS PGothic" panose="020B0600070205080204" pitchFamily="34" charset="-128"/>
              </a:rPr>
              <a:pPr fontAlgn="base">
                <a:spcBef>
                  <a:spcPct val="0"/>
                </a:spcBef>
                <a:spcAft>
                  <a:spcPct val="0"/>
                </a:spcAft>
                <a:defRPr/>
              </a:pPr>
              <a:t>10/7/2026</a:t>
            </a:fld>
            <a:endParaRPr lang="en-US">
              <a:ea typeface="MS PGothic" panose="020B0600070205080204" pitchFamily="34" charset="-128"/>
            </a:endParaRPr>
          </a:p>
        </p:txBody>
      </p:sp>
      <p:sp>
        <p:nvSpPr>
          <p:cNvPr id="5" name="Slide Number Placeholder 4">
            <a:extLst>
              <a:ext uri="{FF2B5EF4-FFF2-40B4-BE49-F238E27FC236}">
                <a16:creationId xmlns:a16="http://schemas.microsoft.com/office/drawing/2014/main" id="{5868BA78-6230-9A49-69A7-B22EB73C48CC}"/>
              </a:ext>
            </a:extLst>
          </p:cNvPr>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smtClean="0">
                <a:ea typeface="MS PGothic" panose="020B0600070205080204" pitchFamily="34" charset="-128"/>
              </a:rPr>
              <a:pPr fontAlgn="base">
                <a:spcBef>
                  <a:spcPct val="0"/>
                </a:spcBef>
                <a:spcAft>
                  <a:spcPct val="0"/>
                </a:spcAft>
                <a:defRPr/>
              </a:pPr>
              <a:t>5</a:t>
            </a:fld>
            <a:endParaRPr lang="en-US" altLang="en-US">
              <a:ea typeface="MS PGothic" panose="020B0600070205080204" pitchFamily="34" charset="-128"/>
            </a:endParaRPr>
          </a:p>
        </p:txBody>
      </p:sp>
    </p:spTree>
    <p:extLst>
      <p:ext uri="{BB962C8B-B14F-4D97-AF65-F5344CB8AC3E}">
        <p14:creationId xmlns:p14="http://schemas.microsoft.com/office/powerpoint/2010/main" val="14363515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06D3C-4B4F-4105-A2CA-8CCC647D3BA1}"/>
              </a:ext>
            </a:extLst>
          </p:cNvPr>
          <p:cNvSpPr>
            <a:spLocks noGrp="1"/>
          </p:cNvSpPr>
          <p:nvPr>
            <p:ph type="title"/>
          </p:nvPr>
        </p:nvSpPr>
        <p:spPr/>
        <p:txBody>
          <a:bodyPr/>
          <a:lstStyle/>
          <a:p>
            <a:pPr>
              <a:defRPr sz="2100" b="1">
                <a:solidFill>
                  <a:srgbClr val="003366"/>
                </a:solidFill>
                <a:latin typeface="Arial"/>
              </a:defRPr>
            </a:pPr>
            <a:r>
              <a:t>Proposed Solution: Architecture &amp; Key Capabilities</a:t>
            </a:r>
          </a:p>
        </p:txBody>
      </p:sp>
      <p:sp>
        <p:nvSpPr>
          <p:cNvPr id="3" name="Content Placeholder 2">
            <a:extLst>
              <a:ext uri="{FF2B5EF4-FFF2-40B4-BE49-F238E27FC236}">
                <a16:creationId xmlns:a16="http://schemas.microsoft.com/office/drawing/2014/main" id="{B9B6B7A8-65F2-E73A-00E9-945683A8A1BD}"/>
              </a:ext>
            </a:extLst>
          </p:cNvPr>
          <p:cNvSpPr>
            <a:spLocks noGrp="1"/>
          </p:cNvSpPr>
          <p:nvPr>
            <p:ph idx="1"/>
          </p:nvPr>
        </p:nvSpPr>
        <p:spPr/>
        <p:txBody>
          <a:bodyPr wrap="square"/>
          <a:lstStyle/>
          <a:p>
            <a:pPr>
              <a:spcBef>
                <a:spcPts val="400"/>
              </a:spcBef>
              <a:spcAft>
                <a:spcPts val="200"/>
              </a:spcAft>
              <a:defRPr sz="1350" b="1">
                <a:solidFill>
                  <a:srgbClr val="005078"/>
                </a:solidFill>
                <a:latin typeface="Arial"/>
              </a:defRPr>
            </a:pPr>
            <a:r>
              <a:t>The 'Two Windows, One Operator' Architecture</a:t>
            </a:r>
          </a:p>
          <a:p>
            <a:pPr lvl="1">
              <a:spcAft>
                <a:spcPts val="200"/>
              </a:spcAft>
              <a:defRPr sz="1150">
                <a:solidFill>
                  <a:srgbClr val="2D2D2D"/>
                </a:solidFill>
                <a:latin typeface="Arial"/>
              </a:defRPr>
            </a:pPr>
            <a:r>
              <a:t>Primary Screen (Control Studio): Private dashboard for the speaker to select windows, preview feeds, toggle AI cards, and set timers.</a:t>
            </a:r>
          </a:p>
          <a:p>
            <a:pPr lvl="1">
              <a:spcAft>
                <a:spcPts val="200"/>
              </a:spcAft>
              <a:defRPr sz="1150">
                <a:solidFill>
                  <a:srgbClr val="2D2D2D"/>
                </a:solidFill>
                <a:latin typeface="Arial"/>
              </a:defRPr>
            </a:pPr>
            <a:r>
              <a:t>Secondary Screen (Audience View): Pristine, borderless fullscreen output sent directly to the projector, TV, or LED wall.</a:t>
            </a:r>
          </a:p>
          <a:p>
            <a:pPr lvl="1">
              <a:spcAft>
                <a:spcPts val="200"/>
              </a:spcAft>
              <a:defRPr sz="1150">
                <a:solidFill>
                  <a:srgbClr val="2D2D2D"/>
                </a:solidFill>
                <a:latin typeface="Arial"/>
              </a:defRPr>
            </a:pPr>
            <a:r>
              <a:t>Instant Sync: Smooth real-time coordination between both screens with zero perceptible lag.</a:t>
            </a:r>
          </a:p>
          <a:p>
            <a:pPr>
              <a:spcBef>
                <a:spcPts val="400"/>
              </a:spcBef>
              <a:spcAft>
                <a:spcPts val="200"/>
              </a:spcAft>
              <a:defRPr sz="1350" b="1">
                <a:solidFill>
                  <a:srgbClr val="005078"/>
                </a:solidFill>
                <a:latin typeface="Arial"/>
              </a:defRPr>
            </a:pPr>
            <a:r>
              <a:t>Core Built-In Features</a:t>
            </a:r>
          </a:p>
          <a:p>
            <a:pPr lvl="1">
              <a:spcAft>
                <a:spcPts val="200"/>
              </a:spcAft>
              <a:defRPr sz="1150">
                <a:solidFill>
                  <a:srgbClr val="2D2D2D"/>
                </a:solidFill>
                <a:latin typeface="Arial"/>
              </a:defRPr>
            </a:pPr>
            <a:r>
              <a:t>1. Smart Window Discovery: Automatically detects all open desktop apps with live visual preview thumbnails.</a:t>
            </a:r>
          </a:p>
          <a:p>
            <a:pPr lvl="1">
              <a:spcAft>
                <a:spcPts val="200"/>
              </a:spcAft>
              <a:defRPr sz="1150">
                <a:solidFill>
                  <a:srgbClr val="2D2D2D"/>
                </a:solidFill>
                <a:latin typeface="Arial"/>
              </a:defRPr>
            </a:pPr>
            <a:r>
              <a:t>2. Responsive Grid Compositor: Auto-fits selected windows into clean 2-split or 4-split layouts with 1-click controls.</a:t>
            </a:r>
          </a:p>
          <a:p>
            <a:pPr lvl="1">
              <a:spcAft>
                <a:spcPts val="200"/>
              </a:spcAft>
              <a:defRPr sz="1150">
                <a:solidFill>
                  <a:srgbClr val="2D2D2D"/>
                </a:solidFill>
                <a:latin typeface="Arial"/>
              </a:defRPr>
            </a:pPr>
            <a:r>
              <a:t>3. Live Broadcast Hotkeys: Instant emergency Blackout (F6), Freeze Frame (F7), and Live Projection Toggle (F5).</a:t>
            </a:r>
          </a:p>
          <a:p>
            <a:pPr lvl="1">
              <a:spcAft>
                <a:spcPts val="200"/>
              </a:spcAft>
              <a:defRPr sz="1150">
                <a:solidFill>
                  <a:srgbClr val="2D2D2D"/>
                </a:solidFill>
                <a:latin typeface="Arial"/>
              </a:defRPr>
            </a:pPr>
            <a:r>
              <a:t>4. Real-Time AI Context Engine: Converts live speech to structured cards (scriptures, speaker lower-thirds, key quotes) in ~200ms.</a:t>
            </a:r>
          </a:p>
          <a:p>
            <a:pPr lvl="1">
              <a:spcAft>
                <a:spcPts val="200"/>
              </a:spcAft>
              <a:defRPr sz="1150">
                <a:solidFill>
                  <a:srgbClr val="2D2D2D"/>
                </a:solidFill>
                <a:latin typeface="Arial"/>
              </a:defRPr>
            </a:pPr>
            <a:r>
              <a:t>5. Wireless Screen Sharing: Pulls live video feeds wirelessly from guest devices over local Wi-Fi with permission approval.</a:t>
            </a:r>
          </a:p>
        </p:txBody>
      </p:sp>
      <p:sp>
        <p:nvSpPr>
          <p:cNvPr id="4" name="Date Placeholder 3">
            <a:extLst>
              <a:ext uri="{FF2B5EF4-FFF2-40B4-BE49-F238E27FC236}">
                <a16:creationId xmlns:a16="http://schemas.microsoft.com/office/drawing/2014/main" id="{01725DB2-1CF4-25AC-98C9-B01040B69618}"/>
              </a:ext>
            </a:extLst>
          </p:cNvPr>
          <p:cNvSpPr>
            <a:spLocks noGrp="1"/>
          </p:cNvSpPr>
          <p:nvPr>
            <p:ph type="dt" sz="half" idx="10"/>
          </p:nvPr>
        </p:nvSpPr>
        <p:spPr/>
        <p:txBody>
          <a:bodyPr/>
          <a:lstStyle/>
          <a:p>
            <a:pPr fontAlgn="base">
              <a:spcBef>
                <a:spcPct val="0"/>
              </a:spcBef>
              <a:spcAft>
                <a:spcPct val="0"/>
              </a:spcAft>
              <a:defRPr/>
            </a:pPr>
            <a:fld id="{A9287898-D9AE-4049-9D19-ED0B1E1963CA}" type="datetime1">
              <a:rPr lang="en-US" smtClean="0">
                <a:ea typeface="MS PGothic" panose="020B0600070205080204" pitchFamily="34" charset="-128"/>
              </a:rPr>
              <a:pPr fontAlgn="base">
                <a:spcBef>
                  <a:spcPct val="0"/>
                </a:spcBef>
                <a:spcAft>
                  <a:spcPct val="0"/>
                </a:spcAft>
                <a:defRPr/>
              </a:pPr>
              <a:t>10/7/2026</a:t>
            </a:fld>
            <a:endParaRPr lang="en-US">
              <a:ea typeface="MS PGothic" panose="020B0600070205080204" pitchFamily="34" charset="-128"/>
            </a:endParaRPr>
          </a:p>
        </p:txBody>
      </p:sp>
      <p:sp>
        <p:nvSpPr>
          <p:cNvPr id="5" name="Slide Number Placeholder 4">
            <a:extLst>
              <a:ext uri="{FF2B5EF4-FFF2-40B4-BE49-F238E27FC236}">
                <a16:creationId xmlns:a16="http://schemas.microsoft.com/office/drawing/2014/main" id="{3890411F-B638-EC08-5169-AE580B8FB891}"/>
              </a:ext>
            </a:extLst>
          </p:cNvPr>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smtClean="0">
                <a:ea typeface="MS PGothic" panose="020B0600070205080204" pitchFamily="34" charset="-128"/>
              </a:rPr>
              <a:pPr fontAlgn="base">
                <a:spcBef>
                  <a:spcPct val="0"/>
                </a:spcBef>
                <a:spcAft>
                  <a:spcPct val="0"/>
                </a:spcAft>
                <a:defRPr/>
              </a:pPr>
              <a:t>6</a:t>
            </a:fld>
            <a:endParaRPr lang="en-US" altLang="en-US">
              <a:ea typeface="MS PGothic" panose="020B0600070205080204" pitchFamily="34" charset="-128"/>
            </a:endParaRPr>
          </a:p>
        </p:txBody>
      </p:sp>
    </p:spTree>
    <p:extLst>
      <p:ext uri="{BB962C8B-B14F-4D97-AF65-F5344CB8AC3E}">
        <p14:creationId xmlns:p14="http://schemas.microsoft.com/office/powerpoint/2010/main" val="39854477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32FC4-DD23-1994-05AD-6A8BE81F5CEF}"/>
              </a:ext>
            </a:extLst>
          </p:cNvPr>
          <p:cNvSpPr>
            <a:spLocks noGrp="1"/>
          </p:cNvSpPr>
          <p:nvPr>
            <p:ph type="title"/>
          </p:nvPr>
        </p:nvSpPr>
        <p:spPr/>
        <p:txBody>
          <a:bodyPr/>
          <a:lstStyle/>
          <a:p>
            <a:pPr>
              <a:defRPr sz="2100" b="1">
                <a:solidFill>
                  <a:srgbClr val="003366"/>
                </a:solidFill>
                <a:latin typeface="Arial"/>
              </a:defRPr>
            </a:pPr>
            <a:r>
              <a:t>Live Demonstration Flow &amp; Summary of Contributions</a:t>
            </a:r>
          </a:p>
        </p:txBody>
      </p:sp>
      <p:sp>
        <p:nvSpPr>
          <p:cNvPr id="4" name="Date Placeholder 3">
            <a:extLst>
              <a:ext uri="{FF2B5EF4-FFF2-40B4-BE49-F238E27FC236}">
                <a16:creationId xmlns:a16="http://schemas.microsoft.com/office/drawing/2014/main" id="{D3F317FC-B0A5-5DF9-D46A-0097F1943542}"/>
              </a:ext>
            </a:extLst>
          </p:cNvPr>
          <p:cNvSpPr>
            <a:spLocks noGrp="1"/>
          </p:cNvSpPr>
          <p:nvPr>
            <p:ph type="dt" sz="half" idx="10"/>
          </p:nvPr>
        </p:nvSpPr>
        <p:spPr/>
        <p:txBody>
          <a:bodyPr/>
          <a:lstStyle/>
          <a:p>
            <a:pPr fontAlgn="base">
              <a:spcBef>
                <a:spcPct val="0"/>
              </a:spcBef>
              <a:spcAft>
                <a:spcPct val="0"/>
              </a:spcAft>
              <a:defRPr/>
            </a:pPr>
            <a:fld id="{A9287898-D9AE-4049-9D19-ED0B1E1963CA}" type="datetime1">
              <a:rPr lang="en-US" smtClean="0">
                <a:ea typeface="MS PGothic" panose="020B0600070205080204" pitchFamily="34" charset="-128"/>
              </a:rPr>
              <a:pPr fontAlgn="base">
                <a:spcBef>
                  <a:spcPct val="0"/>
                </a:spcBef>
                <a:spcAft>
                  <a:spcPct val="0"/>
                </a:spcAft>
                <a:defRPr/>
              </a:pPr>
              <a:t>10/7/2026</a:t>
            </a:fld>
            <a:endParaRPr lang="en-US">
              <a:ea typeface="MS PGothic" panose="020B0600070205080204" pitchFamily="34" charset="-128"/>
            </a:endParaRPr>
          </a:p>
        </p:txBody>
      </p:sp>
      <p:sp>
        <p:nvSpPr>
          <p:cNvPr id="5" name="Slide Number Placeholder 4">
            <a:extLst>
              <a:ext uri="{FF2B5EF4-FFF2-40B4-BE49-F238E27FC236}">
                <a16:creationId xmlns:a16="http://schemas.microsoft.com/office/drawing/2014/main" id="{E90DD781-364A-0708-0EFC-CA14E446F5D9}"/>
              </a:ext>
            </a:extLst>
          </p:cNvPr>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smtClean="0">
                <a:ea typeface="MS PGothic" panose="020B0600070205080204" pitchFamily="34" charset="-128"/>
              </a:rPr>
              <a:pPr fontAlgn="base">
                <a:spcBef>
                  <a:spcPct val="0"/>
                </a:spcBef>
                <a:spcAft>
                  <a:spcPct val="0"/>
                </a:spcAft>
                <a:defRPr/>
              </a:pPr>
              <a:t>7</a:t>
            </a:fld>
            <a:endParaRPr lang="en-US" altLang="en-US">
              <a:ea typeface="MS PGothic" panose="020B0600070205080204" pitchFamily="34" charset="-128"/>
            </a:endParaRPr>
          </a:p>
        </p:txBody>
      </p:sp>
      <p:sp>
        <p:nvSpPr>
          <p:cNvPr id="8" name="Content Placeholder 7">
            <a:extLst>
              <a:ext uri="{FF2B5EF4-FFF2-40B4-BE49-F238E27FC236}">
                <a16:creationId xmlns:a16="http://schemas.microsoft.com/office/drawing/2014/main" id="{23712241-B4F7-567C-CF5D-AA1CE2FB25EE}"/>
              </a:ext>
            </a:extLst>
          </p:cNvPr>
          <p:cNvSpPr>
            <a:spLocks noGrp="1"/>
          </p:cNvSpPr>
          <p:nvPr>
            <p:ph idx="1"/>
          </p:nvPr>
        </p:nvSpPr>
        <p:spPr/>
        <p:txBody>
          <a:bodyPr wrap="square"/>
          <a:lstStyle/>
          <a:p>
            <a:pPr>
              <a:spcBef>
                <a:spcPts val="400"/>
              </a:spcBef>
              <a:spcAft>
                <a:spcPts val="200"/>
              </a:spcAft>
              <a:defRPr sz="1350" b="1">
                <a:solidFill>
                  <a:srgbClr val="005078"/>
                </a:solidFill>
                <a:latin typeface="Arial"/>
              </a:defRPr>
            </a:pPr>
            <a:r>
              <a:t>Demonstration Flow for the Panel</a:t>
            </a:r>
          </a:p>
          <a:p>
            <a:pPr lvl="1">
              <a:spcAft>
                <a:spcPts val="200"/>
              </a:spcAft>
              <a:defRPr sz="1150">
                <a:solidFill>
                  <a:srgbClr val="2D2D2D"/>
                </a:solidFill>
                <a:latin typeface="Arial"/>
              </a:defRPr>
            </a:pPr>
            <a:r>
              <a:t>Step 1 (Auto-Detection): Open Wingrid -&gt; View active desktop windows with real-time preview thumbnails.</a:t>
            </a:r>
          </a:p>
          <a:p>
            <a:pPr lvl="1">
              <a:spcAft>
                <a:spcPts val="200"/>
              </a:spcAft>
              <a:defRPr sz="1150">
                <a:solidFill>
                  <a:srgbClr val="2D2D2D"/>
                </a:solidFill>
                <a:latin typeface="Arial"/>
              </a:defRPr>
            </a:pPr>
            <a:r>
              <a:t>Step 2 (Multi-Window Grid): Combine multiple sources (e.g., Slide Deck + Bible App / Live Code) into a clean Dual Grid.</a:t>
            </a:r>
          </a:p>
          <a:p>
            <a:pPr lvl="1">
              <a:spcAft>
                <a:spcPts val="200"/>
              </a:spcAft>
              <a:defRPr sz="1150">
                <a:solidFill>
                  <a:srgbClr val="2D2D2D"/>
                </a:solidFill>
                <a:latin typeface="Arial"/>
              </a:defRPr>
            </a:pPr>
            <a:r>
              <a:t>Step 3 (Audience Projection): Press F5 -&gt; Verify pristine projector output with zero desktop clutter or taskbars.</a:t>
            </a:r>
          </a:p>
          <a:p>
            <a:pPr lvl="1">
              <a:spcAft>
                <a:spcPts val="200"/>
              </a:spcAft>
              <a:defRPr sz="1150">
                <a:solidFill>
                  <a:srgbClr val="2D2D2D"/>
                </a:solidFill>
                <a:latin typeface="Arial"/>
              </a:defRPr>
            </a:pPr>
            <a:r>
              <a:t>Step 4 (Smart AI Assistant): Speak into the mic -&gt; AI auto-generates a scripture/quote card in ~200ms -&gt; Click 'Push to Live'.</a:t>
            </a:r>
          </a:p>
          <a:p>
            <a:pPr lvl="1">
              <a:spcAft>
                <a:spcPts val="200"/>
              </a:spcAft>
              <a:defRPr sz="1150">
                <a:solidFill>
                  <a:srgbClr val="2D2D2D"/>
                </a:solidFill>
                <a:latin typeface="Arial"/>
              </a:defRPr>
            </a:pPr>
            <a:r>
              <a:t>Step 5 (Emergency Controls): Demonstrate instant Blackout (F6) and Freeze Frame (F7).</a:t>
            </a:r>
          </a:p>
          <a:p>
            <a:pPr lvl="1">
              <a:spcAft>
                <a:spcPts val="200"/>
              </a:spcAft>
              <a:defRPr sz="1150">
                <a:solidFill>
                  <a:srgbClr val="2D2D2D"/>
                </a:solidFill>
                <a:latin typeface="Arial"/>
              </a:defRPr>
            </a:pPr>
            <a:r>
              <a:t>Step 6 (Wireless Feed): Connect a secondary laptop feed wirelessly over local Wi-Fi.</a:t>
            </a:r>
          </a:p>
          <a:p>
            <a:pPr>
              <a:spcBef>
                <a:spcPts val="400"/>
              </a:spcBef>
              <a:spcAft>
                <a:spcPts val="200"/>
              </a:spcAft>
              <a:defRPr sz="1350" b="1">
                <a:solidFill>
                  <a:srgbClr val="005078"/>
                </a:solidFill>
                <a:latin typeface="Arial"/>
              </a:defRPr>
            </a:pPr>
            <a:r>
              <a:t>Summary of Contributions &amp; Future Scope</a:t>
            </a:r>
          </a:p>
          <a:p>
            <a:pPr lvl="1">
              <a:spcAft>
                <a:spcPts val="200"/>
              </a:spcAft>
              <a:defRPr sz="1150">
                <a:solidFill>
                  <a:srgbClr val="2D2D2D"/>
                </a:solidFill>
                <a:latin typeface="Arial"/>
              </a:defRPr>
            </a:pPr>
            <a:r>
              <a:t>Key Contributions: Solved the 4 core presentation headaches; built dual-window GPU engine; integrated real-time speech AI.</a:t>
            </a:r>
          </a:p>
          <a:p>
            <a:pPr lvl="1">
              <a:spcAft>
                <a:spcPts val="200"/>
              </a:spcAft>
              <a:defRPr sz="1150">
                <a:solidFill>
                  <a:srgbClr val="2D2D2D"/>
                </a:solidFill>
                <a:latin typeface="Arial"/>
              </a:defRPr>
            </a:pPr>
            <a:r>
              <a:t>Future Enhancements: Multi-speaker voice identification, cross-platform support (macOS/Linux), and auto-camera framing.</a:t>
            </a:r>
          </a:p>
        </p:txBody>
      </p:sp>
    </p:spTree>
    <p:extLst>
      <p:ext uri="{BB962C8B-B14F-4D97-AF65-F5344CB8AC3E}">
        <p14:creationId xmlns:p14="http://schemas.microsoft.com/office/powerpoint/2010/main" val="21562714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ctrTitle"/>
          </p:nvPr>
        </p:nvSpPr>
        <p:spPr>
          <a:xfrm>
            <a:off x="2209800" y="152399"/>
            <a:ext cx="7772400" cy="889819"/>
          </a:xfrm>
        </p:spPr>
        <p:txBody>
          <a:bodyPr vert="horz" wrap="square" lIns="91440" tIns="45720" rIns="91440" bIns="45720" anchor="ctr" anchorCtr="0"/>
          <a:lstStyle/>
          <a:p>
            <a:pPr>
              <a:defRPr sz="2200" b="1">
                <a:solidFill>
                  <a:srgbClr val="003366"/>
                </a:solidFill>
                <a:latin typeface="Arial"/>
              </a:defRPr>
            </a:pPr>
            <a:r>
              <a:t>FINAL YEAR PROJECT PRESENTATION &amp; DEMO</a:t>
            </a:r>
          </a:p>
        </p:txBody>
      </p:sp>
      <p:sp>
        <p:nvSpPr>
          <p:cNvPr id="3075" name="Subtitle 2"/>
          <p:cNvSpPr>
            <a:spLocks noGrp="1"/>
          </p:cNvSpPr>
          <p:nvPr>
            <p:ph type="subTitle" idx="1"/>
          </p:nvPr>
        </p:nvSpPr>
        <p:spPr>
          <a:xfrm>
            <a:off x="1602658" y="1182329"/>
            <a:ext cx="8738419" cy="3891116"/>
          </a:xfrm>
        </p:spPr>
        <p:txBody>
          <a:bodyPr vert="horz" wrap="square" lIns="91440" tIns="45720" rIns="91440" bIns="45720" anchor="t" anchorCtr="0"/>
          <a:lstStyle/>
          <a:p>
            <a:pPr>
              <a:defRPr sz="2200" b="1">
                <a:solidFill>
                  <a:srgbClr val="006089"/>
                </a:solidFill>
                <a:latin typeface="Arial"/>
              </a:defRPr>
            </a:pPr>
            <a:r>
              <a:t>THANK YOU FOR YOUR ATTENTION</a:t>
            </a:r>
            <a:br/>
          </a:p>
          <a:p>
            <a:pPr>
              <a:defRPr sz="1300">
                <a:solidFill>
                  <a:srgbClr val="3C3C3C"/>
                </a:solidFill>
                <a:latin typeface="Arial"/>
              </a:defRPr>
            </a:pPr>
            <a:r>
              <a:t>WINGRID: Making Live Presentations Professional, Effortless, and Smart</a:t>
            </a:r>
            <a:br/>
            <a:br/>
            <a:r>
              <a:t>Questions &amp; Comments are Welcome</a:t>
            </a:r>
            <a:br/>
            <a:br/>
            <a:r>
              <a:t>Department of Computer Science, University of Ghana</a:t>
            </a:r>
          </a:p>
        </p:txBody>
      </p:sp>
      <p:sp>
        <p:nvSpPr>
          <p:cNvPr id="2" name="Date Placeholder 1"/>
          <p:cNvSpPr>
            <a:spLocks noGrp="1"/>
          </p:cNvSpPr>
          <p:nvPr>
            <p:ph type="dt" sz="half" idx="10"/>
          </p:nvPr>
        </p:nvSpPr>
        <p:spPr/>
        <p:txBody>
          <a:bodyPr/>
          <a:lstStyle/>
          <a:p>
            <a:pPr fontAlgn="base">
              <a:spcBef>
                <a:spcPct val="0"/>
              </a:spcBef>
              <a:spcAft>
                <a:spcPct val="0"/>
              </a:spcAft>
              <a:defRPr/>
            </a:pPr>
            <a:fld id="{CBB6B13C-08B2-4F48-BEC8-EC2633766FDF}" type="datetime1">
              <a:rPr lang="en-US">
                <a:latin typeface="Calibri" panose="020F0502020204030204" pitchFamily="34" charset="0"/>
                <a:ea typeface="MS PGothic" panose="020B0600070205080204" pitchFamily="34" charset="-128"/>
              </a:rPr>
              <a:pPr fontAlgn="base">
                <a:spcBef>
                  <a:spcPct val="0"/>
                </a:spcBef>
                <a:spcAft>
                  <a:spcPct val="0"/>
                </a:spcAft>
                <a:defRPr/>
              </a:pPr>
              <a:t>10/7/2026</a:t>
            </a:fld>
            <a:endParaRPr lang="en-US">
              <a:latin typeface="Calibri" panose="020F0502020204030204" pitchFamily="34" charset="0"/>
              <a:ea typeface="MS PGothic" panose="020B0600070205080204" pitchFamily="34" charset="-128"/>
            </a:endParaRPr>
          </a:p>
        </p:txBody>
      </p:sp>
      <p:sp>
        <p:nvSpPr>
          <p:cNvPr id="4" name="Slide Number Placeholder 3"/>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a:latin typeface="Calibri" panose="020F0502020204030204" pitchFamily="34" charset="0"/>
                <a:ea typeface="MS PGothic" panose="020B0600070205080204" pitchFamily="34" charset="-128"/>
              </a:rPr>
              <a:pPr fontAlgn="base">
                <a:spcBef>
                  <a:spcPct val="0"/>
                </a:spcBef>
                <a:spcAft>
                  <a:spcPct val="0"/>
                </a:spcAft>
                <a:defRPr/>
              </a:pPr>
              <a:t>8</a:t>
            </a:fld>
            <a:endParaRPr lang="en-US" altLang="en-US" dirty="0">
              <a:latin typeface="Calibri" panose="020F0502020204030204" pitchFamily="34" charset="0"/>
              <a:ea typeface="MS PGothic" panose="020B0600070205080204" pitchFamily="34" charset="-128"/>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50</TotalTime>
  <Words>2038</Words>
  <Application>Microsoft Office PowerPoint</Application>
  <PresentationFormat>Widescreen</PresentationFormat>
  <Paragraphs>149</Paragraphs>
  <Slides>8</Slides>
  <Notes>7</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8</vt:i4>
      </vt:variant>
    </vt:vector>
  </HeadingPairs>
  <TitlesOfParts>
    <vt:vector size="16" baseType="lpstr">
      <vt:lpstr>MS PGothic</vt:lpstr>
      <vt:lpstr>Aptos</vt:lpstr>
      <vt:lpstr>Aptos Display</vt:lpstr>
      <vt:lpstr>Arial</vt:lpstr>
      <vt:lpstr>Calibri</vt:lpstr>
      <vt:lpstr>Times New Roman</vt:lpstr>
      <vt:lpstr>Office Theme</vt:lpstr>
      <vt:lpstr>1_Office Theme</vt:lpstr>
      <vt:lpstr>FINAL YEAR PROJECT PRESENTATION &amp; DEMO</vt:lpstr>
      <vt:lpstr>OUTLINE OF PRESENTATION</vt:lpstr>
      <vt:lpstr>Introduction &amp; Problem Statement</vt:lpstr>
      <vt:lpstr>Aims and Specific Objectives</vt:lpstr>
      <vt:lpstr>Related Work &amp; Competitive Analysis</vt:lpstr>
      <vt:lpstr>Proposed Solution &amp; Key Subsystems</vt:lpstr>
      <vt:lpstr>Live Demonstration Flow &amp; Contributions</vt:lpstr>
      <vt:lpstr>FINAL YEAR PROJECT PRESENTATION &amp; DEMO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Prempeh Sharon</dc:creator>
  <cp:lastModifiedBy>Okornoe Josiah</cp:lastModifiedBy>
  <cp:revision>3</cp:revision>
  <dcterms:created xsi:type="dcterms:W3CDTF">2025-09-15T15:38:40Z</dcterms:created>
  <dcterms:modified xsi:type="dcterms:W3CDTF">2026-10-07T02:56:38Z</dcterms:modified>
</cp:coreProperties>
</file>